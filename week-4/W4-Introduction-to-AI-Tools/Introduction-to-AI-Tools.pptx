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82" r:id="rId18"/>
    <p:sldId id="283"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125" d="100"/>
          <a:sy n="125" d="100"/>
        </p:scale>
        <p:origin x="16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4158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big picture — why this topic matters right now for their work.
Read the summary paragraph aloud. Then walk through the three outcomes one by one.
These three outcomes map 1:1 to the three tuition blocks later. Flag that now so learners see the arc.
Keep this slide to ~3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learners through the rhythm: three tuition-then-exercise loops, a recap, and a challenge.
Emphasise that the final challenge pulls the three exercises together — so it pays to be present for each one.
Set expectations on the break after Exercise 2. Timings are guidelines, not gospel.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before the slides: what this block is, why it matters, and what the exercise will test.
Ask the room: "On a scale of 1–5, how confident are you with types of ai right now?" — use the answers to pitch the depth.
Aim for 15–20 min of tuition, then straight into the exercise.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"What we mean by 'AI'":
• AI = software that learns patterns from data rather than following hard-coded rules
• Today's boom is driven by generative AI — models that create new text, images, audio, and code
• Two useful framings: narrow AI (does one thing well) vs general AI (not here yet)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"The main categories you'll meet":
• Large Language Models (LLMs) — text in, text out (ChatGPT, Claude, Gemini)
• Image generation — text or image in, image out (Midjourney, DALL·E, Ideogram)
• Audio &amp; voice — speech↔text, voice cloning (Whisper, ElevenLabs)
• Video generation — storyboards, shorts, lip-sync (Runway, Sora, Veo)
• Multimodal models — mix of text, image, audio in one model (GPT-5, Claude, Gemini)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"Picking the right tool for the job":
• Drafting, summarising, structured output → LLM
• Concept art, illustration, mood boards → image gen
• Transcription, dubbing, voiceover → audio
• Explainer videos, B-roll → video gen
• Agents that take actions (research, fill forms) → LLM + tools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"What AI is NOT":
• It isn't a search engine — it can invent facts (hallucination)
• It has a knowledge cut-off — recent events may be wrong or missing
• It doesn't 'understand' — it predicts the next most-likely token
• It reflects its training data — biases in → biases out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individual or small-group exercise (2-3 people).
User story: As a new AI user, I want to understand which tools do what so I can confidently pick the right one for a task.
Full step-by-step:
1. Pick a task you actually do (e.g. weekly newsletter, client reporting)
2. Brainstorm which AI categories could help
3. Pick one LLM tool, one media tool, one wildcard
4. Fill in the four fields per tool
5. Share with a partner and get one question each
Keep time visibly — call the halfway and 5-minute markers aloud. Wrap with a 3-minute share-back.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before the slides: what this block is, why it matters, and what the exercise will test.
Ask the room: "On a scale of 1–5, how confident are you with creating prompts right now?" — use the answers to pitch the depth.
Aim for 15–20 min of tuition, then straight into the exercise.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"Why prompts matter":
• Same model, different prompt = wildly different output quality
• A prompt is a brief — the clearer the brief, the better the work
• Prompting is an iterative skill, not a one-shot trick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"The R-T-C-F-C framework":
• Role — who the model should act as ('You are a senior marketer…')
• Task — what you want it to do ('draft three subject lines…')
• Context — relevant background ('product is a B2B SaaS for accountants…')
• Format — how the output should look (markdown, JSON, table)
• Constraints — rules &amp; guardrails ('under 50 characters, no emojis, UK English')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"Prompt patterns worth knowing":
• Zero-shot — just ask
• Few-shot — include 2–3 examples of the output you want
• Chain-of-thought — ask it to 'think step by step' for reasoning tasks
• Role-play — assign a persona to shape tone and judgement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"Weak vs strong — a rewrite":
• Weak: 'write a blog about AI for business'
• Strong: 'You are a B2B content editor. Write a 600-word blog post for non-technical small business owners explaining three practical ways AI can save them admin time this quarter. Tone: warm, no jargon, UK English. Format: H2 section headings + short paragraphs.'
• The difference is role, audience, length, angle, tone, format — all set upfront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individual or small-group exercise (2-3 people).
User story: As an AI user, I want to turn vague prompts into strong ones so I spend less time arguing with the model.
Full step-by-step:
1. Read the weak prompt and spot what's missing (role? format? constraint?)
2. Write the strong version — include every RTCFC element
3. Run the weak prompt first, paste the output
4. Run the strong prompt, paste the output
5. Write a one-line 'difference' observation
Keep time visibly — call the halfway and 5-minute markers aloud. Wrap with a 3-minute share-back.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603D5-29DD-9666-1CC0-99F614D03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4816D-31D0-AC9C-3DA0-9B3601253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409EC-AADD-AA28-BDC3-85A440338DDB}"/>
              </a:ext>
            </a:extLst>
          </p:cNvPr>
          <p:cNvSpPr>
            <a:spLocks noGrp="1"/>
          </p:cNvSpPr>
          <p:nvPr>
            <p:ph type="body" idx="1"/>
          </p:nvPr>
        </p:nvSpPr>
        <p:spPr/>
        <p:txBody>
          <a:bodyPr/>
          <a:lstStyle/>
          <a:p>
            <a:r>
              <a:rPr lang="en-US" dirty="0"/>
              <a:t>Teaching notes for "Weak vs strong — a rewrite":
• Weak: 'write a blog about AI for business'
• Strong: 'You are a B2B content editor. Write a 600-word blog post for non-technical small business owners explaining three practical ways AI can save them admin time this quarter. Tone: warm, no jargon, UK English. Format: H2 section headings + short paragraphs.'
• The difference is role, audience, length, angle, tone, format — all set upfront
Use real examples from the room where you can — ask who's tried this, what tools they use.</a:t>
            </a:r>
          </a:p>
        </p:txBody>
      </p:sp>
      <p:sp>
        <p:nvSpPr>
          <p:cNvPr id="4" name="Slide Number Placeholder 3">
            <a:extLst>
              <a:ext uri="{FF2B5EF4-FFF2-40B4-BE49-F238E27FC236}">
                <a16:creationId xmlns:a16="http://schemas.microsoft.com/office/drawing/2014/main" id="{7E452B35-46E7-5C2B-164E-FC582264022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447421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630A-5854-C414-151B-E8224F620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A2D69-327E-B8B1-17FA-2B1AA185E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E9C50-C658-2126-FE47-9A5CAFEC6A27}"/>
              </a:ext>
            </a:extLst>
          </p:cNvPr>
          <p:cNvSpPr>
            <a:spLocks noGrp="1"/>
          </p:cNvSpPr>
          <p:nvPr>
            <p:ph type="body" idx="1"/>
          </p:nvPr>
        </p:nvSpPr>
        <p:spPr/>
        <p:txBody>
          <a:bodyPr/>
          <a:lstStyle/>
          <a:p>
            <a:r>
              <a:rPr lang="en-US" dirty="0"/>
              <a:t>Teaching notes for "Weak vs strong — a rewrite":
• Weak: 'write a blog about AI for business'
• Strong: 'You are a B2B content editor. Write a 600-word blog post for non-technical small business owners explaining three practical ways AI can save them admin time this quarter. Tone: warm, no jargon, UK English. Format: H2 section headings + short paragraphs.'
• The difference is role, audience, length, angle, tone, format — all set upfront
Use real examples from the room where you can — ask who's tried this, what tools they use.</a:t>
            </a:r>
          </a:p>
        </p:txBody>
      </p:sp>
      <p:sp>
        <p:nvSpPr>
          <p:cNvPr id="4" name="Slide Number Placeholder 3">
            <a:extLst>
              <a:ext uri="{FF2B5EF4-FFF2-40B4-BE49-F238E27FC236}">
                <a16:creationId xmlns:a16="http://schemas.microsoft.com/office/drawing/2014/main" id="{3BDB59B5-0FC3-F66B-3930-0D779643C93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93712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F1C6-12D3-8066-05D9-D2F7DC2B7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23DDC-AF09-E857-A978-5561B3E1E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45DD8-744F-6AB7-9560-AAAB8D591C95}"/>
              </a:ext>
            </a:extLst>
          </p:cNvPr>
          <p:cNvSpPr>
            <a:spLocks noGrp="1"/>
          </p:cNvSpPr>
          <p:nvPr>
            <p:ph type="body" idx="1"/>
          </p:nvPr>
        </p:nvSpPr>
        <p:spPr/>
        <p:txBody>
          <a:bodyPr/>
          <a:lstStyle/>
          <a:p>
            <a:r>
              <a:rPr lang="en-US" dirty="0"/>
              <a:t>Teaching notes for "Weak vs strong — a rewrite":
• Weak: 'write a blog about AI for business'
• Strong: 'You are a B2B content editor. Write a 600-word blog post for non-technical small business owners explaining three practical ways AI can save them admin time this quarter. Tone: warm, no jargon, UK English. Format: H2 section headings + short paragraphs.'
• The difference is role, audience, length, angle, tone, format — all set upfront
Use real examples from the room where you can — ask who's tried this, what tools they use.</a:t>
            </a:r>
          </a:p>
        </p:txBody>
      </p:sp>
      <p:sp>
        <p:nvSpPr>
          <p:cNvPr id="4" name="Slide Number Placeholder 3">
            <a:extLst>
              <a:ext uri="{FF2B5EF4-FFF2-40B4-BE49-F238E27FC236}">
                <a16:creationId xmlns:a16="http://schemas.microsoft.com/office/drawing/2014/main" id="{0AB3A6BA-10C2-E808-A421-EF80876723C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7214806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before the slides: what this block is, why it matters, and what the exercise will test.
Ask the room: "On a scale of 1–5, how confident are you with custom gpts &amp; claude projects right now?" — use the answers to pitch the depth.
Aim for 15–20 min of tuition, then straight into the exercise.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"What is a Custom GPT / Claude Project?":
• A pre-configured AI assistant: system instructions + knowledge files + capabilities
• Solves the 'I keep retyping the same prompt' problem
• Great for recurring workflows, brand tone, specialist knowledge, team-shared tools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"The four ingredients":
• Name &amp; description — how it shows up in the picker
• System instructions — the standing brief the model follows every time
• Knowledge files — documents it can reference (brand guide, FAQ, price list)
• Capabilities — web browsing, code interpreter, image generation, custom tools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"Claude Projects — the equivalent":
• Projects bundle a system prompt + reference files + conversation history
• Files stay attached across every conversation in the Project
• Use Projects for a Claude-native version of the same idea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for "Good practice from day one":
• Give it a specific, narrow job — 'do one thing well' beats 'do everything'
• Put examples of ideal output in the system instructions
• Name your versions (v1, v2) as you iterate — don't lose good prompts
• Test edge cases before sharing it with the team
Use real examples from the room where you can — ask who's tried this, what tools they use.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an individual or small-group exercise (2-3 people).
User story: As a team member, I want a reusable AI assistant for a recurring task so I stop retyping the same prompt.
Full step-by-step:
1. Open ChatGPT (Explore GPTs → Create) or Claude (New Project)
2. Decide the persona and write a short description
3. Write the system instructions (role, task, tone, constraints, example)
4. Run three different test prompts
5. Note one improvement for v2
Keep time visibly — call the halfway and 5-minute markers aloud. Wrap with a 3-minute share-back.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fast 15-minute recap:
1. Ask one person per block to summarise what they remember. Fill in gaps.
2. Call out the through-line to the final challenge: each block's output feeds into it.
3. Take 2-3 questions before moving to the challenge slide.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the challenge with confidence — this is the session's payoff.
Reinforces: Types of AI — choosing the right tool for the job; Prompting — packaging a repeatable brief into instructions; Custom GPTs — turning the prompt into a shareable team tool.
Remind the room they can pair up. Keep tempo — 25 minutes is tight on purpose.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deliverables — make the done-criteria crystal clear.
The stretch goal is optional but encouraged. Anyone who finishes early should do it before peeking at peers' work.
The three reinforces map directly to the three tuition blocks.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invitation: apply it on Monday, not just in class.
Point them at the workbook for step-by-step exercise briefs and the facilitator guide if they want the teaching framing.
Thank them, confirm what's in the next session.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822960" y="1463040"/>
            <a:ext cx="10058400" cy="2011680"/>
          </a:xfrm>
          <a:prstGeom prst="rect">
            <a:avLst/>
          </a:prstGeom>
          <a:noFill/>
          <a:ln/>
        </p:spPr>
        <p:txBody>
          <a:bodyPr wrap="square" rtlCol="0" anchor="t"/>
          <a:lstStyle/>
          <a:p>
            <a:pPr marL="0" indent="0">
              <a:buNone/>
            </a:pPr>
            <a:r>
              <a:rPr lang="en-US" sz="5400" b="1" dirty="0">
                <a:latin typeface="Sora" pitchFamily="34" charset="0"/>
                <a:ea typeface="Sora" pitchFamily="34" charset="-122"/>
                <a:cs typeface="Sora" pitchFamily="34" charset="-120"/>
              </a:rPr>
              <a:t>Introduction to AI Tools</a:t>
            </a:r>
            <a:endParaRPr lang="en-US" sz="5400" dirty="0"/>
          </a:p>
        </p:txBody>
      </p:sp>
      <p:sp>
        <p:nvSpPr>
          <p:cNvPr id="5" name="Text 3"/>
          <p:cNvSpPr/>
          <p:nvPr/>
        </p:nvSpPr>
        <p:spPr>
          <a:xfrm>
            <a:off x="822960" y="3474720"/>
            <a:ext cx="10058400" cy="548640"/>
          </a:xfrm>
          <a:prstGeom prst="rect">
            <a:avLst/>
          </a:prstGeom>
          <a:noFill/>
          <a:ln/>
        </p:spPr>
        <p:txBody>
          <a:bodyPr wrap="square" rtlCol="0" anchor="ctr"/>
          <a:lstStyle/>
          <a:p>
            <a:pPr marL="0" indent="0">
              <a:buNone/>
            </a:pPr>
            <a:r>
              <a:rPr lang="en-US" sz="2000" dirty="0">
                <a:solidFill>
                  <a:srgbClr val="FFD18A"/>
                </a:solidFill>
                <a:latin typeface="Sora" pitchFamily="34" charset="0"/>
                <a:ea typeface="Sora" pitchFamily="34" charset="-122"/>
                <a:cs typeface="Sora" pitchFamily="34" charset="-120"/>
              </a:rPr>
              <a:t>Step8Up Academy — AI Bootcamp, Session 1</a:t>
            </a:r>
            <a:endParaRPr lang="en-US" sz="2000" dirty="0"/>
          </a:p>
        </p:txBody>
      </p:sp>
      <p:sp>
        <p:nvSpPr>
          <p:cNvPr id="6" name="Shape 4"/>
          <p:cNvSpPr/>
          <p:nvPr/>
        </p:nvSpPr>
        <p:spPr>
          <a:xfrm>
            <a:off x="822960" y="4389120"/>
            <a:ext cx="4114800" cy="502920"/>
          </a:xfrm>
          <a:prstGeom prst="roundRect">
            <a:avLst>
              <a:gd name="adj" fmla="val 18182"/>
            </a:avLst>
          </a:prstGeom>
          <a:solidFill>
            <a:srgbClr val="F5A623"/>
          </a:solidFill>
          <a:ln w="12700">
            <a:solidFill>
              <a:srgbClr val="F5A623"/>
            </a:solidFill>
            <a:prstDash val="solid"/>
          </a:ln>
        </p:spPr>
        <p:txBody>
          <a:bodyPr/>
          <a:lstStyle/>
          <a:p>
            <a:endParaRPr lang="en-US"/>
          </a:p>
        </p:txBody>
      </p:sp>
      <p:sp>
        <p:nvSpPr>
          <p:cNvPr id="7" name="Text 5"/>
          <p:cNvSpPr/>
          <p:nvPr/>
        </p:nvSpPr>
        <p:spPr>
          <a:xfrm>
            <a:off x="822960" y="4389120"/>
            <a:ext cx="4114800" cy="502920"/>
          </a:xfrm>
          <a:prstGeom prst="rect">
            <a:avLst/>
          </a:prstGeom>
          <a:noFill/>
          <a:ln/>
        </p:spPr>
        <p:txBody>
          <a:bodyPr wrap="square" rtlCol="0" anchor="ctr"/>
          <a:lstStyle/>
          <a:p>
            <a:pPr marL="0" indent="0" algn="ctr">
              <a:buNone/>
            </a:pPr>
            <a:r>
              <a:rPr lang="en-US" sz="1300" b="1" dirty="0">
                <a:solidFill>
                  <a:srgbClr val="1F1F1F"/>
                </a:solidFill>
                <a:latin typeface="Sora" pitchFamily="34" charset="0"/>
                <a:ea typeface="Sora" pitchFamily="34" charset="-122"/>
                <a:cs typeface="Sora" pitchFamily="34" charset="-120"/>
              </a:rPr>
              <a:t>Beginner — any audience</a:t>
            </a:r>
            <a:endParaRPr lang="en-US" sz="1300" dirty="0"/>
          </a:p>
        </p:txBody>
      </p:sp>
      <p:sp>
        <p:nvSpPr>
          <p:cNvPr id="8" name="Shape 6"/>
          <p:cNvSpPr/>
          <p:nvPr/>
        </p:nvSpPr>
        <p:spPr>
          <a:xfrm>
            <a:off x="5120640" y="4389120"/>
            <a:ext cx="2011680" cy="502920"/>
          </a:xfrm>
          <a:prstGeom prst="roundRect">
            <a:avLst>
              <a:gd name="adj" fmla="val 18182"/>
            </a:avLst>
          </a:prstGeom>
          <a:ln w="19050">
            <a:solidFill>
              <a:srgbClr val="F5A623"/>
            </a:solidFill>
            <a:prstDash val="solid"/>
          </a:ln>
        </p:spPr>
        <p:txBody>
          <a:bodyPr/>
          <a:lstStyle/>
          <a:p>
            <a:endParaRPr lang="en-US"/>
          </a:p>
        </p:txBody>
      </p:sp>
      <p:sp>
        <p:nvSpPr>
          <p:cNvPr id="9" name="Text 7"/>
          <p:cNvSpPr/>
          <p:nvPr/>
        </p:nvSpPr>
        <p:spPr>
          <a:xfrm>
            <a:off x="5120640" y="4389120"/>
            <a:ext cx="2011680" cy="502920"/>
          </a:xfrm>
          <a:prstGeom prst="rect">
            <a:avLst/>
          </a:prstGeom>
          <a:noFill/>
          <a:ln/>
        </p:spPr>
        <p:txBody>
          <a:bodyPr wrap="square" rtlCol="0" anchor="ctr"/>
          <a:lstStyle/>
          <a:p>
            <a:pPr marL="0" indent="0" algn="ctr">
              <a:buNone/>
            </a:pPr>
            <a:r>
              <a:rPr lang="en-US" sz="1300" b="1" dirty="0">
                <a:solidFill>
                  <a:srgbClr val="F5A623"/>
                </a:solidFill>
                <a:latin typeface="Sora" pitchFamily="34" charset="0"/>
                <a:ea typeface="Sora" pitchFamily="34" charset="-122"/>
                <a:cs typeface="Sora" pitchFamily="34" charset="-120"/>
              </a:rPr>
              <a:t>3 hours</a:t>
            </a:r>
            <a:endParaRPr lang="en-US" sz="1300" dirty="0"/>
          </a:p>
        </p:txBody>
      </p:sp>
      <p:sp>
        <p:nvSpPr>
          <p:cNvPr id="10" name="Text 8"/>
          <p:cNvSpPr/>
          <p:nvPr/>
        </p:nvSpPr>
        <p:spPr>
          <a:xfrm>
            <a:off x="822960" y="6035040"/>
            <a:ext cx="7315200" cy="365760"/>
          </a:xfrm>
          <a:prstGeom prst="rect">
            <a:avLst/>
          </a:prstGeom>
          <a:noFill/>
          <a:ln/>
        </p:spPr>
        <p:txBody>
          <a:bodyPr wrap="square" rtlCol="0" anchor="ctr"/>
          <a:lstStyle/>
          <a:p>
            <a:pPr marL="0" indent="0">
              <a:buNone/>
            </a:pPr>
            <a:r>
              <a:rPr lang="en-US" sz="1200" dirty="0">
                <a:solidFill>
                  <a:srgbClr val="6B6B6B"/>
                </a:solidFill>
                <a:latin typeface="Sora" pitchFamily="34" charset="0"/>
                <a:ea typeface="Sora" pitchFamily="34" charset="-122"/>
                <a:cs typeface="Sora" pitchFamily="34" charset="-120"/>
              </a:rPr>
              <a:t>Step8Up Academy  ·  AI Bootcamp</a:t>
            </a:r>
            <a:endParaRPr lang="en-US" sz="1200" dirty="0"/>
          </a:p>
        </p:txBody>
      </p:sp>
      <p:pic>
        <p:nvPicPr>
          <p:cNvPr id="12" name="Picture 11">
            <a:extLst>
              <a:ext uri="{FF2B5EF4-FFF2-40B4-BE49-F238E27FC236}">
                <a16:creationId xmlns:a16="http://schemas.microsoft.com/office/drawing/2014/main" id="{A0622254-4E8F-C95B-2127-F0F87C013946}"/>
              </a:ext>
            </a:extLst>
          </p:cNvPr>
          <p:cNvPicPr>
            <a:picLocks noChangeAspect="1"/>
          </p:cNvPicPr>
          <p:nvPr/>
        </p:nvPicPr>
        <p:blipFill>
          <a:blip r:embed="rId3"/>
          <a:stretch>
            <a:fillRect/>
          </a:stretch>
        </p:blipFill>
        <p:spPr>
          <a:xfrm>
            <a:off x="8000436" y="1"/>
            <a:ext cx="4100124" cy="2306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48640"/>
            <a:ext cx="731520" cy="54864"/>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685800"/>
            <a:ext cx="10972800" cy="64008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What you'll learn today</a:t>
            </a:r>
            <a:endParaRPr lang="en-US" sz="3400" dirty="0"/>
          </a:p>
        </p:txBody>
      </p:sp>
      <p:sp>
        <p:nvSpPr>
          <p:cNvPr id="4" name="Text 2"/>
          <p:cNvSpPr/>
          <p:nvPr/>
        </p:nvSpPr>
        <p:spPr>
          <a:xfrm>
            <a:off x="457200" y="1554480"/>
            <a:ext cx="10972800" cy="1097280"/>
          </a:xfrm>
          <a:prstGeom prst="rect">
            <a:avLst/>
          </a:prstGeom>
          <a:noFill/>
          <a:ln/>
        </p:spPr>
        <p:txBody>
          <a:bodyPr wrap="square" rtlCol="0" anchor="ctr"/>
          <a:lstStyle/>
          <a:p>
            <a:pPr marL="0" indent="0">
              <a:spcAft>
                <a:spcPts val="600"/>
              </a:spcAft>
              <a:buNone/>
            </a:pPr>
            <a:r>
              <a:rPr lang="en-US" sz="1600" dirty="0">
                <a:solidFill>
                  <a:srgbClr val="6B6B6B"/>
                </a:solidFill>
                <a:latin typeface="Sora" pitchFamily="34" charset="0"/>
                <a:ea typeface="Sora" pitchFamily="34" charset="-122"/>
                <a:cs typeface="Sora" pitchFamily="34" charset="-120"/>
              </a:rPr>
              <a:t>A hands-on introduction to today's AI toolkit. Learners leave able to describe the main categories of AI, write prompts that get useful results, and assemble a reusable Custom GPT or Claude Project of their own.</a:t>
            </a:r>
            <a:endParaRPr lang="en-US" sz="1600" dirty="0"/>
          </a:p>
        </p:txBody>
      </p:sp>
      <p:sp>
        <p:nvSpPr>
          <p:cNvPr id="5" name="Shape 3"/>
          <p:cNvSpPr/>
          <p:nvPr/>
        </p:nvSpPr>
        <p:spPr>
          <a:xfrm>
            <a:off x="457200" y="3017520"/>
            <a:ext cx="3611880" cy="2926080"/>
          </a:xfrm>
          <a:prstGeom prst="roundRect">
            <a:avLst>
              <a:gd name="adj" fmla="val 3750"/>
            </a:avLst>
          </a:prstGeom>
          <a:solidFill>
            <a:srgbClr val="FFF8EC"/>
          </a:solidFill>
          <a:ln w="12700">
            <a:solidFill>
              <a:srgbClr val="F5A623"/>
            </a:solidFill>
            <a:prstDash val="solid"/>
          </a:ln>
        </p:spPr>
        <p:txBody>
          <a:bodyPr/>
          <a:lstStyle/>
          <a:p>
            <a:endParaRPr lang="en-US"/>
          </a:p>
        </p:txBody>
      </p:sp>
      <p:sp>
        <p:nvSpPr>
          <p:cNvPr id="6" name="Shape 4"/>
          <p:cNvSpPr/>
          <p:nvPr/>
        </p:nvSpPr>
        <p:spPr>
          <a:xfrm>
            <a:off x="777240" y="3337560"/>
            <a:ext cx="777240" cy="777240"/>
          </a:xfrm>
          <a:prstGeom prst="ellipse">
            <a:avLst/>
          </a:prstGeom>
          <a:solidFill>
            <a:srgbClr val="F5A623"/>
          </a:solidFill>
          <a:ln w="12700">
            <a:solidFill>
              <a:srgbClr val="F5A623"/>
            </a:solidFill>
            <a:prstDash val="solid"/>
          </a:ln>
        </p:spPr>
        <p:txBody>
          <a:bodyPr/>
          <a:lstStyle/>
          <a:p>
            <a:endParaRPr lang="en-US"/>
          </a:p>
        </p:txBody>
      </p:sp>
      <p:sp>
        <p:nvSpPr>
          <p:cNvPr id="7" name="Text 5"/>
          <p:cNvSpPr/>
          <p:nvPr/>
        </p:nvSpPr>
        <p:spPr>
          <a:xfrm>
            <a:off x="777240" y="3337560"/>
            <a:ext cx="777240" cy="777240"/>
          </a:xfrm>
          <a:prstGeom prst="rect">
            <a:avLst/>
          </a:prstGeom>
          <a:noFill/>
          <a:ln/>
        </p:spPr>
        <p:txBody>
          <a:bodyPr wrap="square" rtlCol="0" anchor="ctr"/>
          <a:lstStyle/>
          <a:p>
            <a:pPr marL="0" indent="0" algn="ctr">
              <a:buNone/>
            </a:pPr>
            <a:r>
              <a:rPr lang="en-US" sz="3000" b="1" dirty="0">
                <a:solidFill>
                  <a:srgbClr val="1F1F1F"/>
                </a:solidFill>
                <a:latin typeface="Sora" pitchFamily="34" charset="0"/>
                <a:ea typeface="Sora" pitchFamily="34" charset="-122"/>
                <a:cs typeface="Sora" pitchFamily="34" charset="-120"/>
              </a:rPr>
              <a:t>1</a:t>
            </a:r>
            <a:endParaRPr lang="en-US" sz="3000" dirty="0"/>
          </a:p>
        </p:txBody>
      </p:sp>
      <p:sp>
        <p:nvSpPr>
          <p:cNvPr id="8" name="Text 6"/>
          <p:cNvSpPr/>
          <p:nvPr/>
        </p:nvSpPr>
        <p:spPr>
          <a:xfrm>
            <a:off x="777240" y="4297680"/>
            <a:ext cx="3017520" cy="1554480"/>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Describe the main categories of AI tools and when to use each</a:t>
            </a:r>
            <a:endParaRPr lang="en-US" sz="1400" dirty="0"/>
          </a:p>
        </p:txBody>
      </p:sp>
      <p:sp>
        <p:nvSpPr>
          <p:cNvPr id="9" name="Shape 7"/>
          <p:cNvSpPr/>
          <p:nvPr/>
        </p:nvSpPr>
        <p:spPr>
          <a:xfrm>
            <a:off x="4315968" y="3017520"/>
            <a:ext cx="3611880" cy="2926080"/>
          </a:xfrm>
          <a:prstGeom prst="roundRect">
            <a:avLst>
              <a:gd name="adj" fmla="val 3750"/>
            </a:avLst>
          </a:prstGeom>
          <a:solidFill>
            <a:srgbClr val="FFF8EC"/>
          </a:solidFill>
          <a:ln w="12700">
            <a:solidFill>
              <a:srgbClr val="F5A623"/>
            </a:solidFill>
            <a:prstDash val="solid"/>
          </a:ln>
        </p:spPr>
        <p:txBody>
          <a:bodyPr/>
          <a:lstStyle/>
          <a:p>
            <a:endParaRPr lang="en-US"/>
          </a:p>
        </p:txBody>
      </p:sp>
      <p:sp>
        <p:nvSpPr>
          <p:cNvPr id="10" name="Shape 8"/>
          <p:cNvSpPr/>
          <p:nvPr/>
        </p:nvSpPr>
        <p:spPr>
          <a:xfrm>
            <a:off x="4636008" y="3337560"/>
            <a:ext cx="777240" cy="777240"/>
          </a:xfrm>
          <a:prstGeom prst="ellipse">
            <a:avLst/>
          </a:prstGeom>
          <a:solidFill>
            <a:srgbClr val="F5A623"/>
          </a:solidFill>
          <a:ln w="12700">
            <a:solidFill>
              <a:srgbClr val="F5A623"/>
            </a:solidFill>
            <a:prstDash val="solid"/>
          </a:ln>
        </p:spPr>
        <p:txBody>
          <a:bodyPr/>
          <a:lstStyle/>
          <a:p>
            <a:endParaRPr lang="en-US"/>
          </a:p>
        </p:txBody>
      </p:sp>
      <p:sp>
        <p:nvSpPr>
          <p:cNvPr id="11" name="Text 9"/>
          <p:cNvSpPr/>
          <p:nvPr/>
        </p:nvSpPr>
        <p:spPr>
          <a:xfrm>
            <a:off x="4636008" y="3337560"/>
            <a:ext cx="777240" cy="777240"/>
          </a:xfrm>
          <a:prstGeom prst="rect">
            <a:avLst/>
          </a:prstGeom>
          <a:noFill/>
          <a:ln/>
        </p:spPr>
        <p:txBody>
          <a:bodyPr wrap="square" rtlCol="0" anchor="ctr"/>
          <a:lstStyle/>
          <a:p>
            <a:pPr marL="0" indent="0" algn="ctr">
              <a:buNone/>
            </a:pPr>
            <a:r>
              <a:rPr lang="en-US" sz="3000" b="1" dirty="0">
                <a:solidFill>
                  <a:srgbClr val="1F1F1F"/>
                </a:solidFill>
                <a:latin typeface="Sora" pitchFamily="34" charset="0"/>
                <a:ea typeface="Sora" pitchFamily="34" charset="-122"/>
                <a:cs typeface="Sora" pitchFamily="34" charset="-120"/>
              </a:rPr>
              <a:t>2</a:t>
            </a:r>
            <a:endParaRPr lang="en-US" sz="3000" dirty="0"/>
          </a:p>
        </p:txBody>
      </p:sp>
      <p:sp>
        <p:nvSpPr>
          <p:cNvPr id="12" name="Text 10"/>
          <p:cNvSpPr/>
          <p:nvPr/>
        </p:nvSpPr>
        <p:spPr>
          <a:xfrm>
            <a:off x="4636008" y="4297680"/>
            <a:ext cx="3017520" cy="1554480"/>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Write prompts using a repeatable framework that gets better, more consistent results</a:t>
            </a:r>
            <a:endParaRPr lang="en-US" sz="1400" dirty="0"/>
          </a:p>
        </p:txBody>
      </p:sp>
      <p:sp>
        <p:nvSpPr>
          <p:cNvPr id="13" name="Shape 11"/>
          <p:cNvSpPr/>
          <p:nvPr/>
        </p:nvSpPr>
        <p:spPr>
          <a:xfrm>
            <a:off x="8174736" y="3017520"/>
            <a:ext cx="3611880" cy="2926080"/>
          </a:xfrm>
          <a:prstGeom prst="roundRect">
            <a:avLst>
              <a:gd name="adj" fmla="val 3750"/>
            </a:avLst>
          </a:prstGeom>
          <a:solidFill>
            <a:srgbClr val="FFF8EC"/>
          </a:solidFill>
          <a:ln w="12700">
            <a:solidFill>
              <a:srgbClr val="F5A623"/>
            </a:solidFill>
            <a:prstDash val="solid"/>
          </a:ln>
        </p:spPr>
        <p:txBody>
          <a:bodyPr/>
          <a:lstStyle/>
          <a:p>
            <a:endParaRPr lang="en-US"/>
          </a:p>
        </p:txBody>
      </p:sp>
      <p:sp>
        <p:nvSpPr>
          <p:cNvPr id="14" name="Shape 12"/>
          <p:cNvSpPr/>
          <p:nvPr/>
        </p:nvSpPr>
        <p:spPr>
          <a:xfrm>
            <a:off x="8494776" y="3337560"/>
            <a:ext cx="777240" cy="777240"/>
          </a:xfrm>
          <a:prstGeom prst="ellipse">
            <a:avLst/>
          </a:prstGeom>
          <a:solidFill>
            <a:srgbClr val="F5A623"/>
          </a:solidFill>
          <a:ln w="12700">
            <a:solidFill>
              <a:srgbClr val="F5A623"/>
            </a:solidFill>
            <a:prstDash val="solid"/>
          </a:ln>
        </p:spPr>
        <p:txBody>
          <a:bodyPr/>
          <a:lstStyle/>
          <a:p>
            <a:endParaRPr lang="en-US"/>
          </a:p>
        </p:txBody>
      </p:sp>
      <p:sp>
        <p:nvSpPr>
          <p:cNvPr id="15" name="Text 13"/>
          <p:cNvSpPr/>
          <p:nvPr/>
        </p:nvSpPr>
        <p:spPr>
          <a:xfrm>
            <a:off x="8494776" y="3337560"/>
            <a:ext cx="777240" cy="777240"/>
          </a:xfrm>
          <a:prstGeom prst="rect">
            <a:avLst/>
          </a:prstGeom>
          <a:noFill/>
          <a:ln/>
        </p:spPr>
        <p:txBody>
          <a:bodyPr wrap="square" rtlCol="0" anchor="ctr"/>
          <a:lstStyle/>
          <a:p>
            <a:pPr marL="0" indent="0" algn="ctr">
              <a:buNone/>
            </a:pPr>
            <a:r>
              <a:rPr lang="en-US" sz="3000" b="1" dirty="0">
                <a:solidFill>
                  <a:srgbClr val="1F1F1F"/>
                </a:solidFill>
                <a:latin typeface="Sora" pitchFamily="34" charset="0"/>
                <a:ea typeface="Sora" pitchFamily="34" charset="-122"/>
                <a:cs typeface="Sora" pitchFamily="34" charset="-120"/>
              </a:rPr>
              <a:t>3</a:t>
            </a:r>
            <a:endParaRPr lang="en-US" sz="3000" dirty="0"/>
          </a:p>
        </p:txBody>
      </p:sp>
      <p:sp>
        <p:nvSpPr>
          <p:cNvPr id="16" name="Text 14"/>
          <p:cNvSpPr/>
          <p:nvPr/>
        </p:nvSpPr>
        <p:spPr>
          <a:xfrm>
            <a:off x="8494776" y="4297680"/>
            <a:ext cx="3017520" cy="1554480"/>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Build a Custom GPT or Claude Project that captures a reusable workflow</a:t>
            </a:r>
            <a:endParaRPr lang="en-US" sz="1400" dirty="0"/>
          </a:p>
        </p:txBody>
      </p:sp>
      <p:pic>
        <p:nvPicPr>
          <p:cNvPr id="17"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8" name="Text 15"/>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Overview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48640"/>
            <a:ext cx="731520" cy="54864"/>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685800"/>
            <a:ext cx="10972800" cy="64008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Today's 3-hour schedule</a:t>
            </a:r>
            <a:endParaRPr lang="en-US" sz="3400" dirty="0"/>
          </a:p>
        </p:txBody>
      </p:sp>
      <p:sp>
        <p:nvSpPr>
          <p:cNvPr id="4" name="Shape 2"/>
          <p:cNvSpPr/>
          <p:nvPr/>
        </p:nvSpPr>
        <p:spPr>
          <a:xfrm>
            <a:off x="457200" y="1554480"/>
            <a:ext cx="11247120" cy="429768"/>
          </a:xfrm>
          <a:prstGeom prst="rect">
            <a:avLst/>
          </a:prstGeom>
          <a:solidFill>
            <a:srgbClr val="F8F4EC"/>
          </a:solidFill>
          <a:ln w="12700">
            <a:solidFill>
              <a:srgbClr val="F8F4EC"/>
            </a:solidFill>
            <a:prstDash val="solid"/>
          </a:ln>
        </p:spPr>
        <p:txBody>
          <a:bodyPr/>
          <a:lstStyle/>
          <a:p>
            <a:endParaRPr lang="en-US"/>
          </a:p>
        </p:txBody>
      </p:sp>
      <p:sp>
        <p:nvSpPr>
          <p:cNvPr id="5" name="Shape 3"/>
          <p:cNvSpPr/>
          <p:nvPr/>
        </p:nvSpPr>
        <p:spPr>
          <a:xfrm>
            <a:off x="457200" y="1609344"/>
            <a:ext cx="91440" cy="320040"/>
          </a:xfrm>
          <a:prstGeom prst="rect">
            <a:avLst/>
          </a:prstGeom>
          <a:solidFill>
            <a:srgbClr val="6B6B6B"/>
          </a:solidFill>
          <a:ln w="12700">
            <a:solidFill>
              <a:srgbClr val="6B6B6B"/>
            </a:solidFill>
            <a:prstDash val="solid"/>
          </a:ln>
        </p:spPr>
        <p:txBody>
          <a:bodyPr/>
          <a:lstStyle/>
          <a:p>
            <a:endParaRPr lang="en-US"/>
          </a:p>
        </p:txBody>
      </p:sp>
      <p:sp>
        <p:nvSpPr>
          <p:cNvPr id="6" name="Text 4"/>
          <p:cNvSpPr/>
          <p:nvPr/>
        </p:nvSpPr>
        <p:spPr>
          <a:xfrm>
            <a:off x="685800" y="1554480"/>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00:00</a:t>
            </a:r>
            <a:endParaRPr lang="en-US" sz="1300" dirty="0"/>
          </a:p>
        </p:txBody>
      </p:sp>
      <p:sp>
        <p:nvSpPr>
          <p:cNvPr id="7" name="Text 5"/>
          <p:cNvSpPr/>
          <p:nvPr/>
        </p:nvSpPr>
        <p:spPr>
          <a:xfrm>
            <a:off x="1737360" y="1554480"/>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Welcome &amp; setup</a:t>
            </a:r>
            <a:endParaRPr lang="en-US" sz="1400" dirty="0"/>
          </a:p>
        </p:txBody>
      </p:sp>
      <p:sp>
        <p:nvSpPr>
          <p:cNvPr id="8" name="Text 6"/>
          <p:cNvSpPr/>
          <p:nvPr/>
        </p:nvSpPr>
        <p:spPr>
          <a:xfrm>
            <a:off x="9875520" y="1554480"/>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5 min</a:t>
            </a:r>
            <a:endParaRPr lang="en-US" sz="1200" dirty="0"/>
          </a:p>
        </p:txBody>
      </p:sp>
      <p:sp>
        <p:nvSpPr>
          <p:cNvPr id="9" name="Shape 7"/>
          <p:cNvSpPr/>
          <p:nvPr/>
        </p:nvSpPr>
        <p:spPr>
          <a:xfrm>
            <a:off x="457200" y="2039112"/>
            <a:ext cx="91440" cy="320040"/>
          </a:xfrm>
          <a:prstGeom prst="rect">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685800" y="1984248"/>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00:05</a:t>
            </a:r>
            <a:endParaRPr lang="en-US" sz="1300" dirty="0"/>
          </a:p>
        </p:txBody>
      </p:sp>
      <p:sp>
        <p:nvSpPr>
          <p:cNvPr id="11" name="Text 9"/>
          <p:cNvSpPr/>
          <p:nvPr/>
        </p:nvSpPr>
        <p:spPr>
          <a:xfrm>
            <a:off x="1737360" y="1984248"/>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Tuition 1 — Types of AI</a:t>
            </a:r>
            <a:endParaRPr lang="en-US" sz="1400" dirty="0"/>
          </a:p>
        </p:txBody>
      </p:sp>
      <p:sp>
        <p:nvSpPr>
          <p:cNvPr id="12" name="Text 10"/>
          <p:cNvSpPr/>
          <p:nvPr/>
        </p:nvSpPr>
        <p:spPr>
          <a:xfrm>
            <a:off x="9875520" y="1984248"/>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15-20 min</a:t>
            </a:r>
            <a:endParaRPr lang="en-US" sz="1200" dirty="0"/>
          </a:p>
        </p:txBody>
      </p:sp>
      <p:sp>
        <p:nvSpPr>
          <p:cNvPr id="13" name="Shape 11"/>
          <p:cNvSpPr/>
          <p:nvPr/>
        </p:nvSpPr>
        <p:spPr>
          <a:xfrm>
            <a:off x="457200" y="2414016"/>
            <a:ext cx="11247120" cy="429768"/>
          </a:xfrm>
          <a:prstGeom prst="rect">
            <a:avLst/>
          </a:prstGeom>
          <a:solidFill>
            <a:srgbClr val="F8F4EC"/>
          </a:solidFill>
          <a:ln w="12700">
            <a:solidFill>
              <a:srgbClr val="F8F4EC"/>
            </a:solidFill>
            <a:prstDash val="solid"/>
          </a:ln>
        </p:spPr>
        <p:txBody>
          <a:bodyPr/>
          <a:lstStyle/>
          <a:p>
            <a:endParaRPr lang="en-US"/>
          </a:p>
        </p:txBody>
      </p:sp>
      <p:sp>
        <p:nvSpPr>
          <p:cNvPr id="14" name="Shape 12"/>
          <p:cNvSpPr/>
          <p:nvPr/>
        </p:nvSpPr>
        <p:spPr>
          <a:xfrm>
            <a:off x="457200" y="2468880"/>
            <a:ext cx="91440" cy="320040"/>
          </a:xfrm>
          <a:prstGeom prst="rect">
            <a:avLst/>
          </a:prstGeom>
          <a:solidFill>
            <a:srgbClr val="E07D0C"/>
          </a:solidFill>
          <a:ln w="12700">
            <a:solidFill>
              <a:srgbClr val="E07D0C"/>
            </a:solidFill>
            <a:prstDash val="solid"/>
          </a:ln>
        </p:spPr>
        <p:txBody>
          <a:bodyPr/>
          <a:lstStyle/>
          <a:p>
            <a:endParaRPr lang="en-US"/>
          </a:p>
        </p:txBody>
      </p:sp>
      <p:sp>
        <p:nvSpPr>
          <p:cNvPr id="15" name="Text 13"/>
          <p:cNvSpPr/>
          <p:nvPr/>
        </p:nvSpPr>
        <p:spPr>
          <a:xfrm>
            <a:off x="685800" y="2414016"/>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00:25</a:t>
            </a:r>
            <a:endParaRPr lang="en-US" sz="1300" dirty="0"/>
          </a:p>
        </p:txBody>
      </p:sp>
      <p:sp>
        <p:nvSpPr>
          <p:cNvPr id="16" name="Text 14"/>
          <p:cNvSpPr/>
          <p:nvPr/>
        </p:nvSpPr>
        <p:spPr>
          <a:xfrm>
            <a:off x="1737360" y="2414016"/>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Exercise 1 — Map the AI landscape</a:t>
            </a:r>
            <a:endParaRPr lang="en-US" sz="1400" dirty="0"/>
          </a:p>
        </p:txBody>
      </p:sp>
      <p:sp>
        <p:nvSpPr>
          <p:cNvPr id="17" name="Text 15"/>
          <p:cNvSpPr/>
          <p:nvPr/>
        </p:nvSpPr>
        <p:spPr>
          <a:xfrm>
            <a:off x="9875520" y="2414016"/>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20 min</a:t>
            </a:r>
            <a:endParaRPr lang="en-US" sz="1200" dirty="0"/>
          </a:p>
        </p:txBody>
      </p:sp>
      <p:sp>
        <p:nvSpPr>
          <p:cNvPr id="18" name="Shape 16"/>
          <p:cNvSpPr/>
          <p:nvPr/>
        </p:nvSpPr>
        <p:spPr>
          <a:xfrm>
            <a:off x="457200" y="2898648"/>
            <a:ext cx="91440" cy="320040"/>
          </a:xfrm>
          <a:prstGeom prst="rect">
            <a:avLst/>
          </a:prstGeom>
          <a:solidFill>
            <a:srgbClr val="F5A623"/>
          </a:solidFill>
          <a:ln w="12700">
            <a:solidFill>
              <a:srgbClr val="F5A623"/>
            </a:solidFill>
            <a:prstDash val="solid"/>
          </a:ln>
        </p:spPr>
        <p:txBody>
          <a:bodyPr/>
          <a:lstStyle/>
          <a:p>
            <a:endParaRPr lang="en-US"/>
          </a:p>
        </p:txBody>
      </p:sp>
      <p:sp>
        <p:nvSpPr>
          <p:cNvPr id="19" name="Text 17"/>
          <p:cNvSpPr/>
          <p:nvPr/>
        </p:nvSpPr>
        <p:spPr>
          <a:xfrm>
            <a:off x="685800" y="2843784"/>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00:45</a:t>
            </a:r>
            <a:endParaRPr lang="en-US" sz="1300" dirty="0"/>
          </a:p>
        </p:txBody>
      </p:sp>
      <p:sp>
        <p:nvSpPr>
          <p:cNvPr id="20" name="Text 18"/>
          <p:cNvSpPr/>
          <p:nvPr/>
        </p:nvSpPr>
        <p:spPr>
          <a:xfrm>
            <a:off x="1737360" y="2843784"/>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Tuition 2 — Creating Prompts</a:t>
            </a:r>
            <a:endParaRPr lang="en-US" sz="1400" dirty="0"/>
          </a:p>
        </p:txBody>
      </p:sp>
      <p:sp>
        <p:nvSpPr>
          <p:cNvPr id="21" name="Text 19"/>
          <p:cNvSpPr/>
          <p:nvPr/>
        </p:nvSpPr>
        <p:spPr>
          <a:xfrm>
            <a:off x="9875520" y="2843784"/>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15-20 min</a:t>
            </a:r>
            <a:endParaRPr lang="en-US" sz="1200" dirty="0"/>
          </a:p>
        </p:txBody>
      </p:sp>
      <p:sp>
        <p:nvSpPr>
          <p:cNvPr id="22" name="Shape 20"/>
          <p:cNvSpPr/>
          <p:nvPr/>
        </p:nvSpPr>
        <p:spPr>
          <a:xfrm>
            <a:off x="457200" y="3273552"/>
            <a:ext cx="11247120" cy="429768"/>
          </a:xfrm>
          <a:prstGeom prst="rect">
            <a:avLst/>
          </a:prstGeom>
          <a:solidFill>
            <a:srgbClr val="F8F4EC"/>
          </a:solidFill>
          <a:ln w="12700">
            <a:solidFill>
              <a:srgbClr val="F8F4EC"/>
            </a:solidFill>
            <a:prstDash val="solid"/>
          </a:ln>
        </p:spPr>
        <p:txBody>
          <a:bodyPr/>
          <a:lstStyle/>
          <a:p>
            <a:endParaRPr lang="en-US"/>
          </a:p>
        </p:txBody>
      </p:sp>
      <p:sp>
        <p:nvSpPr>
          <p:cNvPr id="23" name="Shape 21"/>
          <p:cNvSpPr/>
          <p:nvPr/>
        </p:nvSpPr>
        <p:spPr>
          <a:xfrm>
            <a:off x="457200" y="3328416"/>
            <a:ext cx="91440" cy="320040"/>
          </a:xfrm>
          <a:prstGeom prst="rect">
            <a:avLst/>
          </a:prstGeom>
          <a:solidFill>
            <a:srgbClr val="E07D0C"/>
          </a:solidFill>
          <a:ln w="12700">
            <a:solidFill>
              <a:srgbClr val="E07D0C"/>
            </a:solidFill>
            <a:prstDash val="solid"/>
          </a:ln>
        </p:spPr>
        <p:txBody>
          <a:bodyPr/>
          <a:lstStyle/>
          <a:p>
            <a:endParaRPr lang="en-US"/>
          </a:p>
        </p:txBody>
      </p:sp>
      <p:sp>
        <p:nvSpPr>
          <p:cNvPr id="24" name="Text 22"/>
          <p:cNvSpPr/>
          <p:nvPr/>
        </p:nvSpPr>
        <p:spPr>
          <a:xfrm>
            <a:off x="685800" y="3273552"/>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01:05</a:t>
            </a:r>
            <a:endParaRPr lang="en-US" sz="1300" dirty="0"/>
          </a:p>
        </p:txBody>
      </p:sp>
      <p:sp>
        <p:nvSpPr>
          <p:cNvPr id="25" name="Text 23"/>
          <p:cNvSpPr/>
          <p:nvPr/>
        </p:nvSpPr>
        <p:spPr>
          <a:xfrm>
            <a:off x="1737360" y="3273552"/>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Exercise 2 — Prompt rewrite workshop</a:t>
            </a:r>
            <a:endParaRPr lang="en-US" sz="1400" dirty="0"/>
          </a:p>
        </p:txBody>
      </p:sp>
      <p:sp>
        <p:nvSpPr>
          <p:cNvPr id="26" name="Text 24"/>
          <p:cNvSpPr/>
          <p:nvPr/>
        </p:nvSpPr>
        <p:spPr>
          <a:xfrm>
            <a:off x="9875520" y="3273552"/>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20 min</a:t>
            </a:r>
            <a:endParaRPr lang="en-US" sz="1200" dirty="0"/>
          </a:p>
        </p:txBody>
      </p:sp>
      <p:sp>
        <p:nvSpPr>
          <p:cNvPr id="27" name="Shape 25"/>
          <p:cNvSpPr/>
          <p:nvPr/>
        </p:nvSpPr>
        <p:spPr>
          <a:xfrm>
            <a:off x="457200" y="3758184"/>
            <a:ext cx="91440" cy="320040"/>
          </a:xfrm>
          <a:prstGeom prst="rect">
            <a:avLst/>
          </a:prstGeom>
          <a:solidFill>
            <a:srgbClr val="6B6B6B"/>
          </a:solidFill>
          <a:ln w="12700">
            <a:solidFill>
              <a:srgbClr val="6B6B6B"/>
            </a:solidFill>
            <a:prstDash val="solid"/>
          </a:ln>
        </p:spPr>
        <p:txBody>
          <a:bodyPr/>
          <a:lstStyle/>
          <a:p>
            <a:endParaRPr lang="en-US"/>
          </a:p>
        </p:txBody>
      </p:sp>
      <p:sp>
        <p:nvSpPr>
          <p:cNvPr id="28" name="Text 26"/>
          <p:cNvSpPr/>
          <p:nvPr/>
        </p:nvSpPr>
        <p:spPr>
          <a:xfrm>
            <a:off x="685800" y="3703320"/>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01:25</a:t>
            </a:r>
            <a:endParaRPr lang="en-US" sz="1300" dirty="0"/>
          </a:p>
        </p:txBody>
      </p:sp>
      <p:sp>
        <p:nvSpPr>
          <p:cNvPr id="29" name="Text 27"/>
          <p:cNvSpPr/>
          <p:nvPr/>
        </p:nvSpPr>
        <p:spPr>
          <a:xfrm>
            <a:off x="1737360" y="3703320"/>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Short break</a:t>
            </a:r>
            <a:endParaRPr lang="en-US" sz="1400" dirty="0"/>
          </a:p>
        </p:txBody>
      </p:sp>
      <p:sp>
        <p:nvSpPr>
          <p:cNvPr id="30" name="Text 28"/>
          <p:cNvSpPr/>
          <p:nvPr/>
        </p:nvSpPr>
        <p:spPr>
          <a:xfrm>
            <a:off x="9875520" y="3703320"/>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10 min</a:t>
            </a:r>
            <a:endParaRPr lang="en-US" sz="1200" dirty="0"/>
          </a:p>
        </p:txBody>
      </p:sp>
      <p:sp>
        <p:nvSpPr>
          <p:cNvPr id="31" name="Shape 29"/>
          <p:cNvSpPr/>
          <p:nvPr/>
        </p:nvSpPr>
        <p:spPr>
          <a:xfrm>
            <a:off x="457200" y="4133088"/>
            <a:ext cx="11247120" cy="429768"/>
          </a:xfrm>
          <a:prstGeom prst="rect">
            <a:avLst/>
          </a:prstGeom>
          <a:solidFill>
            <a:srgbClr val="F8F4EC"/>
          </a:solidFill>
          <a:ln w="12700">
            <a:solidFill>
              <a:srgbClr val="F8F4EC"/>
            </a:solidFill>
            <a:prstDash val="solid"/>
          </a:ln>
        </p:spPr>
        <p:txBody>
          <a:bodyPr/>
          <a:lstStyle/>
          <a:p>
            <a:endParaRPr lang="en-US"/>
          </a:p>
        </p:txBody>
      </p:sp>
      <p:sp>
        <p:nvSpPr>
          <p:cNvPr id="32" name="Shape 30"/>
          <p:cNvSpPr/>
          <p:nvPr/>
        </p:nvSpPr>
        <p:spPr>
          <a:xfrm>
            <a:off x="457200" y="4187952"/>
            <a:ext cx="91440" cy="320040"/>
          </a:xfrm>
          <a:prstGeom prst="rect">
            <a:avLst/>
          </a:prstGeom>
          <a:solidFill>
            <a:srgbClr val="F5A623"/>
          </a:solidFill>
          <a:ln w="12700">
            <a:solidFill>
              <a:srgbClr val="F5A623"/>
            </a:solidFill>
            <a:prstDash val="solid"/>
          </a:ln>
        </p:spPr>
        <p:txBody>
          <a:bodyPr/>
          <a:lstStyle/>
          <a:p>
            <a:endParaRPr lang="en-US"/>
          </a:p>
        </p:txBody>
      </p:sp>
      <p:sp>
        <p:nvSpPr>
          <p:cNvPr id="33" name="Text 31"/>
          <p:cNvSpPr/>
          <p:nvPr/>
        </p:nvSpPr>
        <p:spPr>
          <a:xfrm>
            <a:off x="685800" y="4133088"/>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01:35</a:t>
            </a:r>
            <a:endParaRPr lang="en-US" sz="1300" dirty="0"/>
          </a:p>
        </p:txBody>
      </p:sp>
      <p:sp>
        <p:nvSpPr>
          <p:cNvPr id="34" name="Text 32"/>
          <p:cNvSpPr/>
          <p:nvPr/>
        </p:nvSpPr>
        <p:spPr>
          <a:xfrm>
            <a:off x="1737360" y="4133088"/>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Tuition 3 — Custom GPTs &amp; Claude Projects</a:t>
            </a:r>
            <a:endParaRPr lang="en-US" sz="1400" dirty="0"/>
          </a:p>
        </p:txBody>
      </p:sp>
      <p:sp>
        <p:nvSpPr>
          <p:cNvPr id="35" name="Text 33"/>
          <p:cNvSpPr/>
          <p:nvPr/>
        </p:nvSpPr>
        <p:spPr>
          <a:xfrm>
            <a:off x="9875520" y="4133088"/>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15-20 min</a:t>
            </a:r>
            <a:endParaRPr lang="en-US" sz="1200" dirty="0"/>
          </a:p>
        </p:txBody>
      </p:sp>
      <p:sp>
        <p:nvSpPr>
          <p:cNvPr id="36" name="Shape 34"/>
          <p:cNvSpPr/>
          <p:nvPr/>
        </p:nvSpPr>
        <p:spPr>
          <a:xfrm>
            <a:off x="457200" y="4617720"/>
            <a:ext cx="91440" cy="320040"/>
          </a:xfrm>
          <a:prstGeom prst="rect">
            <a:avLst/>
          </a:prstGeom>
          <a:solidFill>
            <a:srgbClr val="E07D0C"/>
          </a:solidFill>
          <a:ln w="12700">
            <a:solidFill>
              <a:srgbClr val="E07D0C"/>
            </a:solidFill>
            <a:prstDash val="solid"/>
          </a:ln>
        </p:spPr>
        <p:txBody>
          <a:bodyPr/>
          <a:lstStyle/>
          <a:p>
            <a:endParaRPr lang="en-US"/>
          </a:p>
        </p:txBody>
      </p:sp>
      <p:sp>
        <p:nvSpPr>
          <p:cNvPr id="37" name="Text 35"/>
          <p:cNvSpPr/>
          <p:nvPr/>
        </p:nvSpPr>
        <p:spPr>
          <a:xfrm>
            <a:off x="685800" y="4562856"/>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01:55</a:t>
            </a:r>
            <a:endParaRPr lang="en-US" sz="1300" dirty="0"/>
          </a:p>
        </p:txBody>
      </p:sp>
      <p:sp>
        <p:nvSpPr>
          <p:cNvPr id="38" name="Text 36"/>
          <p:cNvSpPr/>
          <p:nvPr/>
        </p:nvSpPr>
        <p:spPr>
          <a:xfrm>
            <a:off x="1737360" y="4562856"/>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Exercise 3 — Build your own Custom GPT</a:t>
            </a:r>
            <a:endParaRPr lang="en-US" sz="1400" dirty="0"/>
          </a:p>
        </p:txBody>
      </p:sp>
      <p:sp>
        <p:nvSpPr>
          <p:cNvPr id="39" name="Text 37"/>
          <p:cNvSpPr/>
          <p:nvPr/>
        </p:nvSpPr>
        <p:spPr>
          <a:xfrm>
            <a:off x="9875520" y="4562856"/>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20 min</a:t>
            </a:r>
            <a:endParaRPr lang="en-US" sz="1200" dirty="0"/>
          </a:p>
        </p:txBody>
      </p:sp>
      <p:sp>
        <p:nvSpPr>
          <p:cNvPr id="40" name="Shape 38"/>
          <p:cNvSpPr/>
          <p:nvPr/>
        </p:nvSpPr>
        <p:spPr>
          <a:xfrm>
            <a:off x="457200" y="4992624"/>
            <a:ext cx="11247120" cy="429768"/>
          </a:xfrm>
          <a:prstGeom prst="rect">
            <a:avLst/>
          </a:prstGeom>
          <a:solidFill>
            <a:srgbClr val="F8F4EC"/>
          </a:solidFill>
          <a:ln w="12700">
            <a:solidFill>
              <a:srgbClr val="F8F4EC"/>
            </a:solidFill>
            <a:prstDash val="solid"/>
          </a:ln>
        </p:spPr>
        <p:txBody>
          <a:bodyPr/>
          <a:lstStyle/>
          <a:p>
            <a:endParaRPr lang="en-US"/>
          </a:p>
        </p:txBody>
      </p:sp>
      <p:sp>
        <p:nvSpPr>
          <p:cNvPr id="41" name="Shape 39"/>
          <p:cNvSpPr/>
          <p:nvPr/>
        </p:nvSpPr>
        <p:spPr>
          <a:xfrm>
            <a:off x="457200" y="5047488"/>
            <a:ext cx="91440" cy="320040"/>
          </a:xfrm>
          <a:prstGeom prst="rect">
            <a:avLst/>
          </a:prstGeom>
          <a:solidFill>
            <a:srgbClr val="6B6B6B"/>
          </a:solidFill>
          <a:ln w="12700">
            <a:solidFill>
              <a:srgbClr val="6B6B6B"/>
            </a:solidFill>
            <a:prstDash val="solid"/>
          </a:ln>
        </p:spPr>
        <p:txBody>
          <a:bodyPr/>
          <a:lstStyle/>
          <a:p>
            <a:endParaRPr lang="en-US"/>
          </a:p>
        </p:txBody>
      </p:sp>
      <p:sp>
        <p:nvSpPr>
          <p:cNvPr id="42" name="Text 40"/>
          <p:cNvSpPr/>
          <p:nvPr/>
        </p:nvSpPr>
        <p:spPr>
          <a:xfrm>
            <a:off x="685800" y="4992624"/>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02:15</a:t>
            </a:r>
            <a:endParaRPr lang="en-US" sz="1300" dirty="0"/>
          </a:p>
        </p:txBody>
      </p:sp>
      <p:sp>
        <p:nvSpPr>
          <p:cNvPr id="43" name="Text 41"/>
          <p:cNvSpPr/>
          <p:nvPr/>
        </p:nvSpPr>
        <p:spPr>
          <a:xfrm>
            <a:off x="1737360" y="4992624"/>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Recap &amp; Q&amp;A</a:t>
            </a:r>
            <a:endParaRPr lang="en-US" sz="1400" dirty="0"/>
          </a:p>
        </p:txBody>
      </p:sp>
      <p:sp>
        <p:nvSpPr>
          <p:cNvPr id="44" name="Text 42"/>
          <p:cNvSpPr/>
          <p:nvPr/>
        </p:nvSpPr>
        <p:spPr>
          <a:xfrm>
            <a:off x="9875520" y="4992624"/>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15-20 min</a:t>
            </a:r>
            <a:endParaRPr lang="en-US" sz="1200" dirty="0"/>
          </a:p>
        </p:txBody>
      </p:sp>
      <p:sp>
        <p:nvSpPr>
          <p:cNvPr id="45" name="Shape 43"/>
          <p:cNvSpPr/>
          <p:nvPr/>
        </p:nvSpPr>
        <p:spPr>
          <a:xfrm>
            <a:off x="457200" y="5477256"/>
            <a:ext cx="91440" cy="320040"/>
          </a:xfrm>
          <a:prstGeom prst="rect">
            <a:avLst/>
          </a:prstGeom>
          <a:solidFill>
            <a:srgbClr val="F5A623"/>
          </a:solidFill>
          <a:ln w="12700">
            <a:solidFill>
              <a:srgbClr val="F5A623"/>
            </a:solidFill>
            <a:prstDash val="solid"/>
          </a:ln>
        </p:spPr>
        <p:txBody>
          <a:bodyPr/>
          <a:lstStyle/>
          <a:p>
            <a:endParaRPr lang="en-US"/>
          </a:p>
        </p:txBody>
      </p:sp>
      <p:sp>
        <p:nvSpPr>
          <p:cNvPr id="46" name="Text 44"/>
          <p:cNvSpPr/>
          <p:nvPr/>
        </p:nvSpPr>
        <p:spPr>
          <a:xfrm>
            <a:off x="685800" y="5422392"/>
            <a:ext cx="1005840" cy="429768"/>
          </a:xfrm>
          <a:prstGeom prst="rect">
            <a:avLst/>
          </a:prstGeom>
          <a:noFill/>
          <a:ln/>
        </p:spPr>
        <p:txBody>
          <a:bodyPr wrap="square" rtlCol="0" anchor="ctr"/>
          <a:lstStyle/>
          <a:p>
            <a:pPr marL="0" indent="0">
              <a:buNone/>
            </a:pPr>
            <a:r>
              <a:rPr lang="en-US" sz="1300" b="1" dirty="0">
                <a:solidFill>
                  <a:srgbClr val="6B6B6B"/>
                </a:solidFill>
                <a:latin typeface="Sora" pitchFamily="34" charset="0"/>
                <a:ea typeface="Sora" pitchFamily="34" charset="-122"/>
                <a:cs typeface="Sora" pitchFamily="34" charset="-120"/>
              </a:rPr>
              <a:t>02:35</a:t>
            </a:r>
            <a:endParaRPr lang="en-US" sz="1300" dirty="0"/>
          </a:p>
        </p:txBody>
      </p:sp>
      <p:sp>
        <p:nvSpPr>
          <p:cNvPr id="47" name="Text 45"/>
          <p:cNvSpPr/>
          <p:nvPr/>
        </p:nvSpPr>
        <p:spPr>
          <a:xfrm>
            <a:off x="1737360" y="5422392"/>
            <a:ext cx="8046720" cy="429768"/>
          </a:xfrm>
          <a:prstGeom prst="rect">
            <a:avLst/>
          </a:prstGeom>
          <a:noFill/>
          <a:ln/>
        </p:spPr>
        <p:txBody>
          <a:bodyPr wrap="square" rtlCol="0" anchor="ctr"/>
          <a:lstStyle/>
          <a:p>
            <a:pPr marL="0" indent="0">
              <a:buNone/>
            </a:pPr>
            <a:r>
              <a:rPr lang="en-US" sz="1400" dirty="0">
                <a:solidFill>
                  <a:srgbClr val="1F1F1F"/>
                </a:solidFill>
                <a:latin typeface="Sora" pitchFamily="34" charset="0"/>
                <a:ea typeface="Sora" pitchFamily="34" charset="-122"/>
                <a:cs typeface="Sora" pitchFamily="34" charset="-120"/>
              </a:rPr>
              <a:t>Final Challenge — Email marketing campaign generator</a:t>
            </a:r>
            <a:endParaRPr lang="en-US" sz="1400" dirty="0"/>
          </a:p>
        </p:txBody>
      </p:sp>
      <p:sp>
        <p:nvSpPr>
          <p:cNvPr id="48" name="Text 46"/>
          <p:cNvSpPr/>
          <p:nvPr/>
        </p:nvSpPr>
        <p:spPr>
          <a:xfrm>
            <a:off x="9875520" y="5422392"/>
            <a:ext cx="1828800" cy="429768"/>
          </a:xfrm>
          <a:prstGeom prst="rect">
            <a:avLst/>
          </a:prstGeom>
          <a:noFill/>
          <a:ln/>
        </p:spPr>
        <p:txBody>
          <a:bodyPr wrap="square" rtlCol="0" anchor="ctr"/>
          <a:lstStyle/>
          <a:p>
            <a:pPr marL="0" indent="0" algn="r">
              <a:buNone/>
            </a:pPr>
            <a:r>
              <a:rPr lang="en-US" sz="1200" dirty="0">
                <a:solidFill>
                  <a:srgbClr val="6B6B6B"/>
                </a:solidFill>
                <a:latin typeface="Sora" pitchFamily="34" charset="0"/>
                <a:ea typeface="Sora" pitchFamily="34" charset="-122"/>
                <a:cs typeface="Sora" pitchFamily="34" charset="-120"/>
              </a:rPr>
              <a:t>25 min</a:t>
            </a:r>
            <a:endParaRPr lang="en-US" sz="1200" dirty="0"/>
          </a:p>
        </p:txBody>
      </p:sp>
      <p:pic>
        <p:nvPicPr>
          <p:cNvPr id="49"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50" name="Text 47"/>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Agenda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7814229" y="548639"/>
            <a:ext cx="3554811" cy="5730255"/>
          </a:xfrm>
          <a:prstGeom prst="rect">
            <a:avLst/>
          </a:prstGeom>
          <a:noFill/>
          <a:ln/>
        </p:spPr>
        <p:txBody>
          <a:bodyPr wrap="square" rtlCol="0" anchor="b"/>
          <a:lstStyle/>
          <a:p>
            <a:pPr marL="0" indent="0" algn="r">
              <a:buNone/>
            </a:pPr>
            <a:r>
              <a:rPr lang="en-US" sz="32000" b="1" dirty="0">
                <a:solidFill>
                  <a:srgbClr val="F5A623"/>
                </a:solidFill>
                <a:latin typeface="Sora" pitchFamily="34" charset="0"/>
                <a:ea typeface="Sora" pitchFamily="34" charset="-122"/>
                <a:cs typeface="Sora" pitchFamily="34" charset="-120"/>
              </a:rPr>
              <a:t>1</a:t>
            </a:r>
            <a:endParaRPr lang="en-US" sz="32000" dirty="0"/>
          </a:p>
        </p:txBody>
      </p:sp>
      <p:sp>
        <p:nvSpPr>
          <p:cNvPr id="5" name="Text 3"/>
          <p:cNvSpPr/>
          <p:nvPr/>
        </p:nvSpPr>
        <p:spPr>
          <a:xfrm>
            <a:off x="822960" y="1554480"/>
            <a:ext cx="9144000" cy="1463040"/>
          </a:xfrm>
          <a:prstGeom prst="rect">
            <a:avLst/>
          </a:prstGeom>
          <a:noFill/>
          <a:ln/>
        </p:spPr>
        <p:txBody>
          <a:bodyPr wrap="square" rtlCol="0" anchor="t"/>
          <a:lstStyle/>
          <a:p>
            <a:pPr marL="0" indent="0">
              <a:buNone/>
            </a:pPr>
            <a:r>
              <a:rPr lang="en-US" sz="5200" b="1" dirty="0">
                <a:latin typeface="Sora" pitchFamily="34" charset="0"/>
                <a:ea typeface="Sora" pitchFamily="34" charset="-122"/>
                <a:cs typeface="Sora" pitchFamily="34" charset="-120"/>
              </a:rPr>
              <a:t>Types of AI</a:t>
            </a:r>
            <a:endParaRPr lang="en-US" sz="5200" dirty="0"/>
          </a:p>
        </p:txBody>
      </p:sp>
      <p:sp>
        <p:nvSpPr>
          <p:cNvPr id="6" name="Text 4"/>
          <p:cNvSpPr/>
          <p:nvPr/>
        </p:nvSpPr>
        <p:spPr>
          <a:xfrm>
            <a:off x="822960" y="3017520"/>
            <a:ext cx="8229600" cy="640080"/>
          </a:xfrm>
          <a:prstGeom prst="rect">
            <a:avLst/>
          </a:prstGeom>
          <a:noFill/>
          <a:ln/>
        </p:spPr>
        <p:txBody>
          <a:bodyPr wrap="square" rtlCol="0" anchor="ctr"/>
          <a:lstStyle/>
          <a:p>
            <a:pPr marL="0" indent="0">
              <a:buNone/>
            </a:pPr>
            <a:r>
              <a:rPr lang="en-US" sz="2200" i="1" dirty="0">
                <a:solidFill>
                  <a:srgbClr val="FFD18A"/>
                </a:solidFill>
                <a:latin typeface="Sora" pitchFamily="34" charset="0"/>
                <a:ea typeface="Sora" pitchFamily="34" charset="-122"/>
                <a:cs typeface="Sora" pitchFamily="34" charset="-120"/>
              </a:rPr>
              <a:t>Know your toolkit</a:t>
            </a:r>
            <a:endParaRPr lang="en-US" sz="2200" dirty="0"/>
          </a:p>
        </p:txBody>
      </p:sp>
      <p:sp>
        <p:nvSpPr>
          <p:cNvPr id="7" name="Shape 5"/>
          <p:cNvSpPr/>
          <p:nvPr/>
        </p:nvSpPr>
        <p:spPr>
          <a:xfrm>
            <a:off x="822960" y="4114800"/>
            <a:ext cx="73152" cy="1554480"/>
          </a:xfrm>
          <a:prstGeom prst="rect">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1051560" y="4114800"/>
            <a:ext cx="7315200" cy="365760"/>
          </a:xfrm>
          <a:prstGeom prst="rect">
            <a:avLst/>
          </a:prstGeom>
          <a:noFill/>
          <a:ln/>
        </p:spPr>
        <p:txBody>
          <a:bodyPr wrap="square" rtlCol="0" anchor="ctr"/>
          <a:lstStyle/>
          <a:p>
            <a:pPr marL="0" indent="0">
              <a:buNone/>
            </a:pPr>
            <a:r>
              <a:rPr lang="en-US" sz="1100" b="1" kern="0" spc="800" dirty="0">
                <a:solidFill>
                  <a:srgbClr val="F5A623"/>
                </a:solidFill>
                <a:latin typeface="Sora" pitchFamily="34" charset="0"/>
                <a:ea typeface="Sora" pitchFamily="34" charset="-122"/>
                <a:cs typeface="Sora" pitchFamily="34" charset="-120"/>
              </a:rPr>
              <a:t>BLOCK OBJECTIVE</a:t>
            </a:r>
            <a:endParaRPr lang="en-US" sz="1100" dirty="0"/>
          </a:p>
        </p:txBody>
      </p:sp>
      <p:sp>
        <p:nvSpPr>
          <p:cNvPr id="9" name="Text 7"/>
          <p:cNvSpPr/>
          <p:nvPr/>
        </p:nvSpPr>
        <p:spPr>
          <a:xfrm>
            <a:off x="1051560" y="4480560"/>
            <a:ext cx="7315200" cy="1188720"/>
          </a:xfrm>
          <a:prstGeom prst="rect">
            <a:avLst/>
          </a:prstGeom>
          <a:noFill/>
          <a:ln/>
        </p:spPr>
        <p:txBody>
          <a:bodyPr wrap="square" rtlCol="0" anchor="ctr"/>
          <a:lstStyle/>
          <a:p>
            <a:pPr marL="0" indent="0">
              <a:buNone/>
            </a:pPr>
            <a:r>
              <a:rPr lang="en-US" sz="1700" dirty="0">
                <a:latin typeface="Sora" pitchFamily="34" charset="0"/>
                <a:ea typeface="Sora" pitchFamily="34" charset="-122"/>
                <a:cs typeface="Sora" pitchFamily="34" charset="-120"/>
              </a:rPr>
              <a:t>By the end of this block you'll be able to place popular AI tools into categories and explain what each category is best at.</a:t>
            </a:r>
            <a:endParaRPr lang="en-US" sz="1700" dirty="0"/>
          </a:p>
        </p:txBody>
      </p:sp>
      <p:pic>
        <p:nvPicPr>
          <p:cNvPr id="11" name="Picture 10">
            <a:extLst>
              <a:ext uri="{FF2B5EF4-FFF2-40B4-BE49-F238E27FC236}">
                <a16:creationId xmlns:a16="http://schemas.microsoft.com/office/drawing/2014/main" id="{F5915902-B47F-CCE8-2F49-AE3B2A638B8D}"/>
              </a:ext>
            </a:extLst>
          </p:cNvPr>
          <p:cNvPicPr>
            <a:picLocks noChangeAspect="1"/>
          </p:cNvPicPr>
          <p:nvPr/>
        </p:nvPicPr>
        <p:blipFill>
          <a:blip r:embed="rId3"/>
          <a:stretch>
            <a:fillRect/>
          </a:stretch>
        </p:blipFill>
        <p:spPr>
          <a:xfrm>
            <a:off x="8765975" y="213345"/>
            <a:ext cx="3142878" cy="17678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What we mean by 'AI'</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AI = software that learns patterns from data rather than following hard-coded rules</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Today's boom is driven by generative AI — models that create new text, images, audio, and code</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Two useful framings: narrow AI (does one thing well) vs general AI (not here yet)</a:t>
            </a:r>
            <a:endParaRPr lang="en-US" sz="1700" dirty="0"/>
          </a:p>
        </p:txBody>
      </p:sp>
      <p:pic>
        <p:nvPicPr>
          <p:cNvPr id="11"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2" name="Text 9"/>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What we mean by 'AI'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The main categories you'll meet</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Large Language Models (LLMs) — text in, text out (ChatGPT, Claude, Gemini)</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Image generation — text or image in, image out (Midjourney, DALL·E, Ideogram)</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Audio &amp; voice — speech↔text, voice cloning (Whisper, ElevenLabs)</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Video generation — storyboards, shorts, lip-sync (Runway, Sora, Veo, </a:t>
            </a:r>
            <a:r>
              <a:rPr lang="en-US" sz="1700" dirty="0" err="1">
                <a:solidFill>
                  <a:srgbClr val="1F1F1F"/>
                </a:solidFill>
                <a:latin typeface="Sora" pitchFamily="34" charset="0"/>
                <a:ea typeface="Sora" pitchFamily="34" charset="-122"/>
                <a:cs typeface="Sora" pitchFamily="34" charset="-120"/>
              </a:rPr>
              <a:t>OpenArt</a:t>
            </a:r>
            <a:r>
              <a:rPr lang="en-US" sz="1700" dirty="0">
                <a:solidFill>
                  <a:srgbClr val="1F1F1F"/>
                </a:solidFill>
                <a:latin typeface="Sora" pitchFamily="34" charset="0"/>
                <a:ea typeface="Sora" pitchFamily="34" charset="-122"/>
                <a:cs typeface="Sora" pitchFamily="34" charset="-120"/>
              </a:rPr>
              <a:t>)</a:t>
            </a:r>
            <a:endParaRPr lang="en-US" sz="1700" dirty="0"/>
          </a:p>
        </p:txBody>
      </p:sp>
      <p:sp>
        <p:nvSpPr>
          <p:cNvPr id="13" name="Shape 11"/>
          <p:cNvSpPr/>
          <p:nvPr/>
        </p:nvSpPr>
        <p:spPr>
          <a:xfrm>
            <a:off x="502920" y="5308092"/>
            <a:ext cx="219456" cy="219456"/>
          </a:xfrm>
          <a:prstGeom prst="ellipse">
            <a:avLst/>
          </a:prstGeom>
          <a:solidFill>
            <a:srgbClr val="F5A623"/>
          </a:solidFill>
          <a:ln w="12700">
            <a:solidFill>
              <a:srgbClr val="F5A623"/>
            </a:solidFill>
            <a:prstDash val="solid"/>
          </a:ln>
        </p:spPr>
        <p:txBody>
          <a:bodyPr/>
          <a:lstStyle/>
          <a:p>
            <a:endParaRPr lang="en-US"/>
          </a:p>
        </p:txBody>
      </p:sp>
      <p:sp>
        <p:nvSpPr>
          <p:cNvPr id="14" name="Text 12"/>
          <p:cNvSpPr/>
          <p:nvPr/>
        </p:nvSpPr>
        <p:spPr>
          <a:xfrm>
            <a:off x="914400" y="502920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Multimodal models — mix of text, image, audio in one model (GPT-5, Claude, Gemini)</a:t>
            </a:r>
            <a:endParaRPr lang="en-US" sz="1700" dirty="0"/>
          </a:p>
        </p:txBody>
      </p:sp>
      <p:pic>
        <p:nvPicPr>
          <p:cNvPr id="15"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6" name="Text 13"/>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The main categories you'll meet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Picking the right tool for the job</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2125980"/>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Drafting, summarising, structured output … LLM</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875788"/>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Concept art, illustration, mood boards … image generation</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a:spcAft>
                <a:spcPts val="400"/>
              </a:spcAft>
            </a:pPr>
            <a:r>
              <a:rPr lang="en-US" sz="1700" dirty="0">
                <a:solidFill>
                  <a:srgbClr val="1F1F1F"/>
                </a:solidFill>
                <a:latin typeface="Sora" pitchFamily="34" charset="0"/>
                <a:ea typeface="Sora" pitchFamily="34" charset="-122"/>
                <a:cs typeface="Sora" pitchFamily="34" charset="-120"/>
              </a:rPr>
              <a:t>Transcription, dubbing, voiceover… audio</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Explainer videos, B-roll … video generation</a:t>
            </a:r>
            <a:endParaRPr lang="en-US" sz="1700" dirty="0"/>
          </a:p>
        </p:txBody>
      </p:sp>
      <p:sp>
        <p:nvSpPr>
          <p:cNvPr id="13" name="Shape 11"/>
          <p:cNvSpPr/>
          <p:nvPr/>
        </p:nvSpPr>
        <p:spPr>
          <a:xfrm>
            <a:off x="502920" y="5308092"/>
            <a:ext cx="219456" cy="219456"/>
          </a:xfrm>
          <a:prstGeom prst="ellipse">
            <a:avLst/>
          </a:prstGeom>
          <a:solidFill>
            <a:srgbClr val="F5A623"/>
          </a:solidFill>
          <a:ln w="12700">
            <a:solidFill>
              <a:srgbClr val="F5A623"/>
            </a:solidFill>
            <a:prstDash val="solid"/>
          </a:ln>
        </p:spPr>
        <p:txBody>
          <a:bodyPr/>
          <a:lstStyle/>
          <a:p>
            <a:endParaRPr lang="en-US"/>
          </a:p>
        </p:txBody>
      </p:sp>
      <p:sp>
        <p:nvSpPr>
          <p:cNvPr id="14" name="Text 12"/>
          <p:cNvSpPr/>
          <p:nvPr/>
        </p:nvSpPr>
        <p:spPr>
          <a:xfrm>
            <a:off x="914400" y="502920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Agents that take actions (research, fill forms) … LLM + tools</a:t>
            </a:r>
            <a:endParaRPr lang="en-US" sz="1700" dirty="0"/>
          </a:p>
        </p:txBody>
      </p:sp>
      <p:pic>
        <p:nvPicPr>
          <p:cNvPr id="15"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6" name="Text 13"/>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Picking the right tool for the job</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What AI is NOT</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875995" y="2125980"/>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It isn't a search engine — it can invent facts (hallucination)</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931160"/>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It has a knowledge cut-off — recent events may be wrong or missing</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685032"/>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It doesn't 'understand' — it predicts the next most-likely token</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478274"/>
            <a:ext cx="10607040" cy="777240"/>
          </a:xfrm>
          <a:prstGeom prst="rect">
            <a:avLst/>
          </a:prstGeom>
          <a:noFill/>
          <a:ln/>
        </p:spPr>
        <p:txBody>
          <a:bodyPr wrap="square" rtlCol="0" anchor="t"/>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It reflects its training data — biases in → biases out</a:t>
            </a:r>
            <a:endParaRPr lang="en-US" sz="1700" dirty="0"/>
          </a:p>
        </p:txBody>
      </p:sp>
      <p:pic>
        <p:nvPicPr>
          <p:cNvPr id="13"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4" name="Text 11"/>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What AI is NOT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C"/>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E07D0C"/>
          </a:solidFill>
          <a:ln w="12700">
            <a:solidFill>
              <a:srgbClr val="E07D0C"/>
            </a:solidFill>
            <a:prstDash val="solid"/>
          </a:ln>
        </p:spPr>
        <p:txBody>
          <a:bodyPr/>
          <a:lstStyle/>
          <a:p>
            <a:endParaRPr lang="en-US"/>
          </a:p>
        </p:txBody>
      </p:sp>
      <p:sp>
        <p:nvSpPr>
          <p:cNvPr id="3" name="Text 1"/>
          <p:cNvSpPr/>
          <p:nvPr/>
        </p:nvSpPr>
        <p:spPr>
          <a:xfrm>
            <a:off x="640080" y="457200"/>
            <a:ext cx="5486400" cy="365760"/>
          </a:xfrm>
          <a:prstGeom prst="rect">
            <a:avLst/>
          </a:prstGeom>
          <a:noFill/>
          <a:ln/>
        </p:spPr>
        <p:txBody>
          <a:bodyPr wrap="square" rtlCol="0" anchor="ctr"/>
          <a:lstStyle/>
          <a:p>
            <a:pPr marL="0" indent="0">
              <a:buNone/>
            </a:pPr>
            <a:r>
              <a:rPr lang="en-US" sz="1300" b="1" kern="0" spc="1000" dirty="0">
                <a:solidFill>
                  <a:srgbClr val="E07D0C"/>
                </a:solidFill>
                <a:latin typeface="Sora" pitchFamily="34" charset="0"/>
                <a:ea typeface="Sora" pitchFamily="34" charset="-122"/>
                <a:cs typeface="Sora" pitchFamily="34" charset="-120"/>
              </a:rPr>
              <a:t>EXERCISE 1</a:t>
            </a:r>
            <a:endParaRPr lang="en-US" sz="1300" dirty="0"/>
          </a:p>
        </p:txBody>
      </p:sp>
      <p:sp>
        <p:nvSpPr>
          <p:cNvPr id="4" name="Shape 2"/>
          <p:cNvSpPr/>
          <p:nvPr/>
        </p:nvSpPr>
        <p:spPr>
          <a:xfrm>
            <a:off x="9875520" y="457200"/>
            <a:ext cx="1874520" cy="457200"/>
          </a:xfrm>
          <a:prstGeom prst="roundRect">
            <a:avLst>
              <a:gd name="adj" fmla="val 16000"/>
            </a:avLst>
          </a:prstGeom>
          <a:solidFill>
            <a:srgbClr val="1F1F1F"/>
          </a:solidFill>
          <a:ln w="12700">
            <a:solidFill>
              <a:srgbClr val="1F1F1F"/>
            </a:solidFill>
            <a:prstDash val="solid"/>
          </a:ln>
        </p:spPr>
        <p:txBody>
          <a:bodyPr/>
          <a:lstStyle/>
          <a:p>
            <a:endParaRPr lang="en-US"/>
          </a:p>
        </p:txBody>
      </p:sp>
      <p:sp>
        <p:nvSpPr>
          <p:cNvPr id="5" name="Text 3"/>
          <p:cNvSpPr/>
          <p:nvPr/>
        </p:nvSpPr>
        <p:spPr>
          <a:xfrm>
            <a:off x="9875520" y="457200"/>
            <a:ext cx="1874520" cy="457200"/>
          </a:xfrm>
          <a:prstGeom prst="rect">
            <a:avLst/>
          </a:prstGeom>
          <a:noFill/>
          <a:ln/>
        </p:spPr>
        <p:txBody>
          <a:bodyPr wrap="square" rtlCol="0" anchor="ctr"/>
          <a:lstStyle/>
          <a:p>
            <a:pPr marL="0" indent="0" algn="ctr">
              <a:buNone/>
            </a:pPr>
            <a:r>
              <a:rPr lang="en-US" sz="1300" b="1" dirty="0">
                <a:solidFill>
                  <a:srgbClr val="FFD18A"/>
                </a:solidFill>
                <a:latin typeface="Sora" pitchFamily="34" charset="0"/>
                <a:ea typeface="Sora" pitchFamily="34" charset="-122"/>
                <a:cs typeface="Sora" pitchFamily="34" charset="-120"/>
              </a:rPr>
              <a:t>20 minutes</a:t>
            </a:r>
            <a:endParaRPr lang="en-US" sz="1300" dirty="0"/>
          </a:p>
        </p:txBody>
      </p:sp>
      <p:sp>
        <p:nvSpPr>
          <p:cNvPr id="6" name="Text 4"/>
          <p:cNvSpPr/>
          <p:nvPr/>
        </p:nvSpPr>
        <p:spPr>
          <a:xfrm>
            <a:off x="640080" y="914400"/>
            <a:ext cx="10972800" cy="91440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Map the AI landscape</a:t>
            </a:r>
            <a:endParaRPr lang="en-US" sz="3400" dirty="0"/>
          </a:p>
        </p:txBody>
      </p:sp>
      <p:sp>
        <p:nvSpPr>
          <p:cNvPr id="7" name="Text 5"/>
          <p:cNvSpPr/>
          <p:nvPr/>
        </p:nvSpPr>
        <p:spPr>
          <a:xfrm>
            <a:off x="640080" y="1920240"/>
            <a:ext cx="548640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THE BRIEF</a:t>
            </a:r>
            <a:endParaRPr lang="en-US" sz="1100" dirty="0"/>
          </a:p>
        </p:txBody>
      </p:sp>
      <p:sp>
        <p:nvSpPr>
          <p:cNvPr id="8" name="Text 6"/>
          <p:cNvSpPr/>
          <p:nvPr/>
        </p:nvSpPr>
        <p:spPr>
          <a:xfrm>
            <a:off x="640080" y="2240280"/>
            <a:ext cx="5486400" cy="2926080"/>
          </a:xfrm>
          <a:prstGeom prst="rect">
            <a:avLst/>
          </a:prstGeom>
          <a:noFill/>
          <a:ln/>
        </p:spPr>
        <p:txBody>
          <a:bodyPr wrap="square" rtlCol="0" anchor="ctr"/>
          <a:lstStyle/>
          <a:p>
            <a:pPr marL="0" indent="0">
              <a:spcAft>
                <a:spcPts val="400"/>
              </a:spcAft>
              <a:buNone/>
            </a:pPr>
            <a:r>
              <a:rPr lang="en-US" sz="1400" dirty="0">
                <a:solidFill>
                  <a:srgbClr val="1F1F1F"/>
                </a:solidFill>
                <a:latin typeface="Sora" pitchFamily="34" charset="0"/>
                <a:ea typeface="Sora" pitchFamily="34" charset="-122"/>
                <a:cs typeface="Sora" pitchFamily="34" charset="-120"/>
              </a:rPr>
              <a:t>Pick one real task you or your team does weekly. Identify three different AI tools: one LLM, one image/video/audio tool, and one 'wildcard' of your choice, that could help with part of that task. </a:t>
            </a:r>
          </a:p>
          <a:p>
            <a:pPr marL="0" indent="0">
              <a:spcAft>
                <a:spcPts val="400"/>
              </a:spcAft>
              <a:buNone/>
            </a:pPr>
            <a:r>
              <a:rPr lang="en-US" sz="1400" dirty="0">
                <a:solidFill>
                  <a:srgbClr val="1F1F1F"/>
                </a:solidFill>
                <a:latin typeface="Sora" pitchFamily="34" charset="0"/>
                <a:ea typeface="Sora" pitchFamily="34" charset="-122"/>
                <a:cs typeface="Sora" pitchFamily="34" charset="-120"/>
              </a:rPr>
              <a:t>For each, note the category, two strengths, one limitation, and a concrete use case that fits your work.</a:t>
            </a:r>
            <a:endParaRPr lang="en-US" sz="1400" dirty="0"/>
          </a:p>
        </p:txBody>
      </p:sp>
      <p:sp>
        <p:nvSpPr>
          <p:cNvPr id="9" name="Text 7"/>
          <p:cNvSpPr/>
          <p:nvPr/>
        </p:nvSpPr>
        <p:spPr>
          <a:xfrm>
            <a:off x="6400800" y="1920240"/>
            <a:ext cx="530352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ACCEPTANCE CRITERIA</a:t>
            </a:r>
            <a:endParaRPr lang="en-US" sz="1100" dirty="0"/>
          </a:p>
        </p:txBody>
      </p:sp>
      <p:sp>
        <p:nvSpPr>
          <p:cNvPr id="10" name="Text 8"/>
          <p:cNvSpPr/>
          <p:nvPr/>
        </p:nvSpPr>
        <p:spPr>
          <a:xfrm>
            <a:off x="6400800" y="2240280"/>
            <a:ext cx="5303520" cy="2926080"/>
          </a:xfrm>
          <a:prstGeom prst="rect">
            <a:avLst/>
          </a:prstGeom>
          <a:noFill/>
          <a:ln/>
        </p:spPr>
        <p:txBody>
          <a:bodyPr wrap="square" rtlCol="0" anchor="ctr"/>
          <a:lstStyle/>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One real weekly task identified and written down</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Three AI tools chosen, each from a different category</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For each tool: category, two strengths, one limitation, one fit-for-purpose use case</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Ready to share back in one minute per tool</a:t>
            </a:r>
            <a:endParaRPr lang="en-US" sz="1300" dirty="0"/>
          </a:p>
        </p:txBody>
      </p:sp>
      <p:sp>
        <p:nvSpPr>
          <p:cNvPr id="11" name="Shape 9"/>
          <p:cNvSpPr/>
          <p:nvPr/>
        </p:nvSpPr>
        <p:spPr>
          <a:xfrm>
            <a:off x="640080" y="4754880"/>
            <a:ext cx="11064240" cy="1645920"/>
          </a:xfrm>
          <a:prstGeom prst="rect">
            <a:avLst/>
          </a:prstGeom>
          <a:solidFill>
            <a:srgbClr val="FFFFFF"/>
          </a:solidFill>
          <a:ln w="12700">
            <a:solidFill>
              <a:srgbClr val="F5A623"/>
            </a:solidFill>
            <a:prstDash val="solid"/>
          </a:ln>
        </p:spPr>
        <p:txBody>
          <a:bodyPr/>
          <a:lstStyle/>
          <a:p>
            <a:endParaRPr lang="en-US"/>
          </a:p>
        </p:txBody>
      </p:sp>
      <p:sp>
        <p:nvSpPr>
          <p:cNvPr id="12" name="Text 10"/>
          <p:cNvSpPr/>
          <p:nvPr/>
        </p:nvSpPr>
        <p:spPr>
          <a:xfrm>
            <a:off x="822960" y="4846320"/>
            <a:ext cx="4572000" cy="320040"/>
          </a:xfrm>
          <a:prstGeom prst="rect">
            <a:avLst/>
          </a:prstGeom>
          <a:noFill/>
          <a:ln/>
        </p:spPr>
        <p:txBody>
          <a:bodyPr wrap="square" rtlCol="0" anchor="ctr"/>
          <a:lstStyle/>
          <a:p>
            <a:pPr marL="0" indent="0">
              <a:buNone/>
            </a:pPr>
            <a:r>
              <a:rPr lang="en-US" sz="1100" b="1" kern="0" spc="600" dirty="0">
                <a:solidFill>
                  <a:srgbClr val="E07D0C"/>
                </a:solidFill>
                <a:latin typeface="Sora" pitchFamily="34" charset="0"/>
                <a:ea typeface="Sora" pitchFamily="34" charset="-122"/>
                <a:cs typeface="Sora" pitchFamily="34" charset="-120"/>
              </a:rPr>
              <a:t>Suggested steps</a:t>
            </a:r>
            <a:endParaRPr lang="en-US" sz="1100" dirty="0"/>
          </a:p>
        </p:txBody>
      </p:sp>
      <p:sp>
        <p:nvSpPr>
          <p:cNvPr id="13" name="Text 11"/>
          <p:cNvSpPr/>
          <p:nvPr/>
        </p:nvSpPr>
        <p:spPr>
          <a:xfrm>
            <a:off x="822960" y="5257800"/>
            <a:ext cx="10881360" cy="1097280"/>
          </a:xfrm>
          <a:prstGeom prst="rect">
            <a:avLst/>
          </a:prstGeom>
          <a:noFill/>
          <a:ln/>
        </p:spPr>
        <p:txBody>
          <a:bodyPr wrap="square" rtlCol="0" anchor="ctr"/>
          <a:lstStyle/>
          <a:p>
            <a:pPr marL="0" indent="0">
              <a:buNone/>
            </a:pPr>
            <a:r>
              <a:rPr lang="en-US" sz="1100" dirty="0">
                <a:solidFill>
                  <a:srgbClr val="6B6B6B"/>
                </a:solidFill>
                <a:latin typeface="Sora" pitchFamily="34" charset="0"/>
                <a:ea typeface="Sora" pitchFamily="34" charset="-122"/>
                <a:cs typeface="Sora" pitchFamily="34" charset="-120"/>
              </a:rPr>
              <a:t>1. Pick a task you actually do (e.g. weekly newsletter, client reporting) </a:t>
            </a:r>
            <a:br>
              <a:rPr lang="en-US" sz="1100" dirty="0">
                <a:solidFill>
                  <a:srgbClr val="6B6B6B"/>
                </a:solidFill>
                <a:latin typeface="Sora" pitchFamily="34" charset="0"/>
                <a:ea typeface="Sora" pitchFamily="34" charset="-122"/>
                <a:cs typeface="Sora" pitchFamily="34" charset="-120"/>
              </a:rPr>
            </a:br>
            <a:r>
              <a:rPr lang="en-US" sz="1100" dirty="0">
                <a:solidFill>
                  <a:srgbClr val="6B6B6B"/>
                </a:solidFill>
                <a:latin typeface="Sora" pitchFamily="34" charset="0"/>
                <a:ea typeface="Sora" pitchFamily="34" charset="-122"/>
                <a:cs typeface="Sora" pitchFamily="34" charset="-120"/>
              </a:rPr>
              <a:t>2. Brainstorm which AI categories could help </a:t>
            </a:r>
            <a:br>
              <a:rPr lang="en-US" sz="1100" dirty="0">
                <a:solidFill>
                  <a:srgbClr val="6B6B6B"/>
                </a:solidFill>
                <a:latin typeface="Sora" pitchFamily="34" charset="0"/>
                <a:ea typeface="Sora" pitchFamily="34" charset="-122"/>
                <a:cs typeface="Sora" pitchFamily="34" charset="-120"/>
              </a:rPr>
            </a:br>
            <a:r>
              <a:rPr lang="en-US" sz="1100" dirty="0">
                <a:solidFill>
                  <a:srgbClr val="6B6B6B"/>
                </a:solidFill>
                <a:latin typeface="Sora" pitchFamily="34" charset="0"/>
                <a:ea typeface="Sora" pitchFamily="34" charset="-122"/>
                <a:cs typeface="Sora" pitchFamily="34" charset="-120"/>
              </a:rPr>
              <a:t>3. Pick one LLM tool, one media tool, one wildcard</a:t>
            </a:r>
            <a:br>
              <a:rPr lang="en-US" sz="1100" dirty="0">
                <a:solidFill>
                  <a:srgbClr val="6B6B6B"/>
                </a:solidFill>
                <a:latin typeface="Sora" pitchFamily="34" charset="0"/>
                <a:ea typeface="Sora" pitchFamily="34" charset="-122"/>
                <a:cs typeface="Sora" pitchFamily="34" charset="-120"/>
              </a:rPr>
            </a:br>
            <a:r>
              <a:rPr lang="en-US" sz="1100" dirty="0">
                <a:solidFill>
                  <a:srgbClr val="6B6B6B"/>
                </a:solidFill>
                <a:latin typeface="Sora" pitchFamily="34" charset="0"/>
                <a:ea typeface="Sora" pitchFamily="34" charset="-122"/>
                <a:cs typeface="Sora" pitchFamily="34" charset="-120"/>
              </a:rPr>
              <a:t>4. Fill in the four fields per tool</a:t>
            </a:r>
            <a:br>
              <a:rPr lang="en-US" sz="1100" dirty="0">
                <a:solidFill>
                  <a:srgbClr val="6B6B6B"/>
                </a:solidFill>
                <a:latin typeface="Sora" pitchFamily="34" charset="0"/>
                <a:ea typeface="Sora" pitchFamily="34" charset="-122"/>
                <a:cs typeface="Sora" pitchFamily="34" charset="-120"/>
              </a:rPr>
            </a:br>
            <a:r>
              <a:rPr lang="en-US" sz="1100" dirty="0">
                <a:solidFill>
                  <a:srgbClr val="6B6B6B"/>
                </a:solidFill>
                <a:latin typeface="Sora" pitchFamily="34" charset="0"/>
                <a:ea typeface="Sora" pitchFamily="34" charset="-122"/>
                <a:cs typeface="Sora" pitchFamily="34" charset="-120"/>
              </a:rPr>
              <a:t>5. Share with a partner and get one question each</a:t>
            </a:r>
            <a:endParaRPr lang="en-US" sz="1100" dirty="0"/>
          </a:p>
        </p:txBody>
      </p:sp>
      <p:pic>
        <p:nvPicPr>
          <p:cNvPr id="14"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5A623"/>
          </a:solidFill>
          <a:ln w="12700">
            <a:solidFill>
              <a:srgbClr val="F5A623"/>
            </a:solidFill>
            <a:prstDash val="solid"/>
          </a:ln>
        </p:spPr>
        <p:txBody>
          <a:bodyPr/>
          <a:lstStyle/>
          <a:p>
            <a:endParaRPr lang="en-US"/>
          </a:p>
        </p:txBody>
      </p:sp>
      <p:sp>
        <p:nvSpPr>
          <p:cNvPr id="4" name="Text 2"/>
          <p:cNvSpPr/>
          <p:nvPr/>
        </p:nvSpPr>
        <p:spPr>
          <a:xfrm>
            <a:off x="8076895" y="914400"/>
            <a:ext cx="3657600" cy="5669280"/>
          </a:xfrm>
          <a:prstGeom prst="rect">
            <a:avLst/>
          </a:prstGeom>
          <a:noFill/>
          <a:ln/>
        </p:spPr>
        <p:txBody>
          <a:bodyPr wrap="square" rtlCol="0" anchor="b"/>
          <a:lstStyle/>
          <a:p>
            <a:pPr marL="0" indent="0" algn="r">
              <a:buNone/>
            </a:pPr>
            <a:r>
              <a:rPr lang="en-US" sz="42000" b="1" dirty="0">
                <a:solidFill>
                  <a:srgbClr val="F5A623"/>
                </a:solidFill>
                <a:latin typeface="Sora" pitchFamily="34" charset="0"/>
                <a:ea typeface="Sora" pitchFamily="34" charset="-122"/>
                <a:cs typeface="Sora" pitchFamily="34" charset="-120"/>
              </a:rPr>
              <a:t>2</a:t>
            </a:r>
            <a:endParaRPr lang="en-US" sz="42000" dirty="0"/>
          </a:p>
        </p:txBody>
      </p:sp>
      <p:sp>
        <p:nvSpPr>
          <p:cNvPr id="5" name="Text 3"/>
          <p:cNvSpPr/>
          <p:nvPr/>
        </p:nvSpPr>
        <p:spPr>
          <a:xfrm>
            <a:off x="822960" y="1554480"/>
            <a:ext cx="9144000" cy="1463040"/>
          </a:xfrm>
          <a:prstGeom prst="rect">
            <a:avLst/>
          </a:prstGeom>
          <a:noFill/>
          <a:ln/>
        </p:spPr>
        <p:txBody>
          <a:bodyPr wrap="square" rtlCol="0" anchor="t"/>
          <a:lstStyle/>
          <a:p>
            <a:pPr marL="0" indent="0">
              <a:buNone/>
            </a:pPr>
            <a:r>
              <a:rPr lang="en-US" sz="5200" b="1" dirty="0">
                <a:latin typeface="Sora" pitchFamily="34" charset="0"/>
                <a:ea typeface="Sora" pitchFamily="34" charset="-122"/>
                <a:cs typeface="Sora" pitchFamily="34" charset="-120"/>
              </a:rPr>
              <a:t>Creating Prompts</a:t>
            </a:r>
            <a:endParaRPr lang="en-US" sz="5200" dirty="0"/>
          </a:p>
        </p:txBody>
      </p:sp>
      <p:sp>
        <p:nvSpPr>
          <p:cNvPr id="6" name="Text 4"/>
          <p:cNvSpPr/>
          <p:nvPr/>
        </p:nvSpPr>
        <p:spPr>
          <a:xfrm>
            <a:off x="822960" y="3017520"/>
            <a:ext cx="8229600" cy="640080"/>
          </a:xfrm>
          <a:prstGeom prst="rect">
            <a:avLst/>
          </a:prstGeom>
          <a:noFill/>
          <a:ln/>
        </p:spPr>
        <p:txBody>
          <a:bodyPr wrap="square" rtlCol="0" anchor="ctr"/>
          <a:lstStyle/>
          <a:p>
            <a:pPr marL="0" indent="0">
              <a:buNone/>
            </a:pPr>
            <a:r>
              <a:rPr lang="en-US" sz="2200" i="1" dirty="0">
                <a:solidFill>
                  <a:srgbClr val="FFD18A"/>
                </a:solidFill>
                <a:latin typeface="Sora" pitchFamily="34" charset="0"/>
                <a:ea typeface="Sora" pitchFamily="34" charset="-122"/>
                <a:cs typeface="Sora" pitchFamily="34" charset="-120"/>
              </a:rPr>
              <a:t>The input is the product</a:t>
            </a:r>
            <a:endParaRPr lang="en-US" sz="2200" dirty="0"/>
          </a:p>
        </p:txBody>
      </p:sp>
      <p:sp>
        <p:nvSpPr>
          <p:cNvPr id="7" name="Shape 5"/>
          <p:cNvSpPr/>
          <p:nvPr/>
        </p:nvSpPr>
        <p:spPr>
          <a:xfrm>
            <a:off x="822960" y="4114800"/>
            <a:ext cx="73152" cy="1554480"/>
          </a:xfrm>
          <a:prstGeom prst="rect">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1051560" y="4114800"/>
            <a:ext cx="7315200" cy="365760"/>
          </a:xfrm>
          <a:prstGeom prst="rect">
            <a:avLst/>
          </a:prstGeom>
          <a:noFill/>
          <a:ln/>
        </p:spPr>
        <p:txBody>
          <a:bodyPr wrap="square" rtlCol="0" anchor="ctr"/>
          <a:lstStyle/>
          <a:p>
            <a:pPr marL="0" indent="0">
              <a:buNone/>
            </a:pPr>
            <a:r>
              <a:rPr lang="en-US" sz="1100" b="1" kern="0" spc="800" dirty="0">
                <a:solidFill>
                  <a:srgbClr val="F5A623"/>
                </a:solidFill>
                <a:latin typeface="Sora" pitchFamily="34" charset="0"/>
                <a:ea typeface="Sora" pitchFamily="34" charset="-122"/>
                <a:cs typeface="Sora" pitchFamily="34" charset="-120"/>
              </a:rPr>
              <a:t>BLOCK OBJECTIVE</a:t>
            </a:r>
            <a:endParaRPr lang="en-US" sz="1100" dirty="0"/>
          </a:p>
        </p:txBody>
      </p:sp>
      <p:sp>
        <p:nvSpPr>
          <p:cNvPr id="9" name="Text 7"/>
          <p:cNvSpPr/>
          <p:nvPr/>
        </p:nvSpPr>
        <p:spPr>
          <a:xfrm>
            <a:off x="1051560" y="4480560"/>
            <a:ext cx="7315200" cy="1188720"/>
          </a:xfrm>
          <a:prstGeom prst="rect">
            <a:avLst/>
          </a:prstGeom>
          <a:noFill/>
          <a:ln/>
        </p:spPr>
        <p:txBody>
          <a:bodyPr wrap="square" rtlCol="0" anchor="ctr"/>
          <a:lstStyle/>
          <a:p>
            <a:pPr marL="0" indent="0">
              <a:buNone/>
            </a:pPr>
            <a:r>
              <a:rPr lang="en-US" sz="1700" dirty="0">
                <a:latin typeface="Sora" pitchFamily="34" charset="0"/>
                <a:ea typeface="Sora" pitchFamily="34" charset="-122"/>
                <a:cs typeface="Sora" pitchFamily="34" charset="-120"/>
              </a:rPr>
              <a:t>By the end of this block you'll have a reusable framework for writing prompts that consistently produce useful outputs.</a:t>
            </a:r>
            <a:endParaRPr lang="en-US" sz="1700" dirty="0"/>
          </a:p>
        </p:txBody>
      </p:sp>
      <p:pic>
        <p:nvPicPr>
          <p:cNvPr id="11" name="Picture 10">
            <a:extLst>
              <a:ext uri="{FF2B5EF4-FFF2-40B4-BE49-F238E27FC236}">
                <a16:creationId xmlns:a16="http://schemas.microsoft.com/office/drawing/2014/main" id="{53AE6BC3-06A3-785E-4B35-953AD30AF920}"/>
              </a:ext>
            </a:extLst>
          </p:cNvPr>
          <p:cNvPicPr>
            <a:picLocks noChangeAspect="1"/>
          </p:cNvPicPr>
          <p:nvPr/>
        </p:nvPicPr>
        <p:blipFill>
          <a:blip r:embed="rId3"/>
          <a:stretch>
            <a:fillRect/>
          </a:stretch>
        </p:blipFill>
        <p:spPr>
          <a:xfrm>
            <a:off x="8970975" y="91440"/>
            <a:ext cx="2763520" cy="1554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Why prompts matter</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Same model, different prompt = wildly different output quality</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A prompt is a brief: the clearer the brief, the better the work</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Prompting is an iterative skill, not a one-shot trick</a:t>
            </a:r>
            <a:endParaRPr lang="en-US" sz="1700" dirty="0"/>
          </a:p>
        </p:txBody>
      </p:sp>
      <p:pic>
        <p:nvPicPr>
          <p:cNvPr id="11"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2" name="Text 9"/>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Why prompts matter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The R-T-C-F-C framework</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Role — who the model should act as ('You are a senior marketer…')</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Task — what you want it to do ('draft three subject lines…')</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Context — relevant background ('product is a B2B SaaS for accountants…')</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Format — how the output should look (markdown, JSON, table)</a:t>
            </a:r>
            <a:endParaRPr lang="en-US" sz="1700" dirty="0"/>
          </a:p>
        </p:txBody>
      </p:sp>
      <p:sp>
        <p:nvSpPr>
          <p:cNvPr id="13" name="Shape 11"/>
          <p:cNvSpPr/>
          <p:nvPr/>
        </p:nvSpPr>
        <p:spPr>
          <a:xfrm>
            <a:off x="502920" y="5308092"/>
            <a:ext cx="219456" cy="219456"/>
          </a:xfrm>
          <a:prstGeom prst="ellipse">
            <a:avLst/>
          </a:prstGeom>
          <a:solidFill>
            <a:srgbClr val="F5A623"/>
          </a:solidFill>
          <a:ln w="12700">
            <a:solidFill>
              <a:srgbClr val="F5A623"/>
            </a:solidFill>
            <a:prstDash val="solid"/>
          </a:ln>
        </p:spPr>
        <p:txBody>
          <a:bodyPr/>
          <a:lstStyle/>
          <a:p>
            <a:endParaRPr lang="en-US"/>
          </a:p>
        </p:txBody>
      </p:sp>
      <p:sp>
        <p:nvSpPr>
          <p:cNvPr id="14" name="Text 12"/>
          <p:cNvSpPr/>
          <p:nvPr/>
        </p:nvSpPr>
        <p:spPr>
          <a:xfrm>
            <a:off x="914400" y="502920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Constraints — rules &amp; guardrails ('under 50 characters, no emojis, UK English')</a:t>
            </a:r>
            <a:endParaRPr lang="en-US" sz="1700" dirty="0"/>
          </a:p>
        </p:txBody>
      </p:sp>
      <p:pic>
        <p:nvPicPr>
          <p:cNvPr id="15"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6" name="Text 13"/>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The R-T-C-F-C framework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Prompt patterns worth knowing</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Zero-shot — just ask</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Few-shot — include 2–3 examples of the output you want</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Chain-of-thought — ask it to 'think step by step' for reasoning tasks</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Role-play — assign a persona to shape tone and judgement</a:t>
            </a:r>
            <a:endParaRPr lang="en-US" sz="1700" dirty="0"/>
          </a:p>
        </p:txBody>
      </p:sp>
      <p:pic>
        <p:nvPicPr>
          <p:cNvPr id="13"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4" name="Text 11"/>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Prompt patterns worth knowing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Weak vs strong: a rewrite</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Weak: 'write a blog about AI for business'</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Strong: 'You are a B2B content editor. Write a 600-word blog post for non-technical small business owners explaining three practical ways AI can save them admin time this quarter. Tone: warm, no jargon, UK English. Format: H2 section headings + short paragraphs.'</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The difference is role, audience, length, angle, tone, format — all set upfront</a:t>
            </a:r>
            <a:endParaRPr lang="en-US" sz="1700" dirty="0"/>
          </a:p>
        </p:txBody>
      </p:sp>
      <p:pic>
        <p:nvPicPr>
          <p:cNvPr id="11"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2" name="Text 9"/>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Weak vs strong — a rewrite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C"/>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E07D0C"/>
          </a:solidFill>
          <a:ln w="12700">
            <a:solidFill>
              <a:srgbClr val="E07D0C"/>
            </a:solidFill>
            <a:prstDash val="solid"/>
          </a:ln>
        </p:spPr>
        <p:txBody>
          <a:bodyPr/>
          <a:lstStyle/>
          <a:p>
            <a:endParaRPr lang="en-US"/>
          </a:p>
        </p:txBody>
      </p:sp>
      <p:sp>
        <p:nvSpPr>
          <p:cNvPr id="3" name="Text 1"/>
          <p:cNvSpPr/>
          <p:nvPr/>
        </p:nvSpPr>
        <p:spPr>
          <a:xfrm>
            <a:off x="640080" y="457200"/>
            <a:ext cx="5486400" cy="365760"/>
          </a:xfrm>
          <a:prstGeom prst="rect">
            <a:avLst/>
          </a:prstGeom>
          <a:noFill/>
          <a:ln/>
        </p:spPr>
        <p:txBody>
          <a:bodyPr wrap="square" rtlCol="0" anchor="ctr"/>
          <a:lstStyle/>
          <a:p>
            <a:pPr marL="0" indent="0">
              <a:buNone/>
            </a:pPr>
            <a:r>
              <a:rPr lang="en-US" sz="1300" b="1" kern="0" spc="1000" dirty="0">
                <a:solidFill>
                  <a:srgbClr val="E07D0C"/>
                </a:solidFill>
                <a:latin typeface="Sora" pitchFamily="34" charset="0"/>
                <a:ea typeface="Sora" pitchFamily="34" charset="-122"/>
                <a:cs typeface="Sora" pitchFamily="34" charset="-120"/>
              </a:rPr>
              <a:t>EXERCISE 2</a:t>
            </a:r>
            <a:endParaRPr lang="en-US" sz="1300" dirty="0"/>
          </a:p>
        </p:txBody>
      </p:sp>
      <p:sp>
        <p:nvSpPr>
          <p:cNvPr id="4" name="Shape 2"/>
          <p:cNvSpPr/>
          <p:nvPr/>
        </p:nvSpPr>
        <p:spPr>
          <a:xfrm>
            <a:off x="9875520" y="457200"/>
            <a:ext cx="1874520" cy="457200"/>
          </a:xfrm>
          <a:prstGeom prst="roundRect">
            <a:avLst>
              <a:gd name="adj" fmla="val 16000"/>
            </a:avLst>
          </a:prstGeom>
          <a:solidFill>
            <a:srgbClr val="1F1F1F"/>
          </a:solidFill>
          <a:ln w="12700">
            <a:solidFill>
              <a:srgbClr val="1F1F1F"/>
            </a:solidFill>
            <a:prstDash val="solid"/>
          </a:ln>
        </p:spPr>
        <p:txBody>
          <a:bodyPr/>
          <a:lstStyle/>
          <a:p>
            <a:endParaRPr lang="en-US"/>
          </a:p>
        </p:txBody>
      </p:sp>
      <p:sp>
        <p:nvSpPr>
          <p:cNvPr id="5" name="Text 3"/>
          <p:cNvSpPr/>
          <p:nvPr/>
        </p:nvSpPr>
        <p:spPr>
          <a:xfrm>
            <a:off x="9875520" y="457200"/>
            <a:ext cx="1874520" cy="457200"/>
          </a:xfrm>
          <a:prstGeom prst="rect">
            <a:avLst/>
          </a:prstGeom>
          <a:noFill/>
          <a:ln/>
        </p:spPr>
        <p:txBody>
          <a:bodyPr wrap="square" rtlCol="0" anchor="ctr"/>
          <a:lstStyle/>
          <a:p>
            <a:pPr marL="0" indent="0" algn="ctr">
              <a:buNone/>
            </a:pPr>
            <a:r>
              <a:rPr lang="en-US" sz="1300" b="1" dirty="0">
                <a:solidFill>
                  <a:srgbClr val="FFD18A"/>
                </a:solidFill>
                <a:latin typeface="Sora" pitchFamily="34" charset="0"/>
                <a:ea typeface="Sora" pitchFamily="34" charset="-122"/>
                <a:cs typeface="Sora" pitchFamily="34" charset="-120"/>
              </a:rPr>
              <a:t>20 minutes</a:t>
            </a:r>
            <a:endParaRPr lang="en-US" sz="1300" dirty="0"/>
          </a:p>
        </p:txBody>
      </p:sp>
      <p:sp>
        <p:nvSpPr>
          <p:cNvPr id="6" name="Text 4"/>
          <p:cNvSpPr/>
          <p:nvPr/>
        </p:nvSpPr>
        <p:spPr>
          <a:xfrm>
            <a:off x="640080" y="914400"/>
            <a:ext cx="10972800" cy="91440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Prompt rewrite workshop</a:t>
            </a:r>
            <a:endParaRPr lang="en-US" sz="3400" dirty="0"/>
          </a:p>
        </p:txBody>
      </p:sp>
      <p:sp>
        <p:nvSpPr>
          <p:cNvPr id="7" name="Text 5"/>
          <p:cNvSpPr/>
          <p:nvPr/>
        </p:nvSpPr>
        <p:spPr>
          <a:xfrm>
            <a:off x="640080" y="1920240"/>
            <a:ext cx="548640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THE BRIEF</a:t>
            </a:r>
            <a:endParaRPr lang="en-US" sz="1100" dirty="0"/>
          </a:p>
        </p:txBody>
      </p:sp>
      <p:sp>
        <p:nvSpPr>
          <p:cNvPr id="8" name="Text 6"/>
          <p:cNvSpPr/>
          <p:nvPr/>
        </p:nvSpPr>
        <p:spPr>
          <a:xfrm>
            <a:off x="640080" y="2240280"/>
            <a:ext cx="5486400" cy="2926080"/>
          </a:xfrm>
          <a:prstGeom prst="rect">
            <a:avLst/>
          </a:prstGeom>
          <a:noFill/>
          <a:ln/>
        </p:spPr>
        <p:txBody>
          <a:bodyPr wrap="square" rtlCol="0" anchor="ctr"/>
          <a:lstStyle/>
          <a:p>
            <a:pPr marL="0" indent="0">
              <a:spcAft>
                <a:spcPts val="400"/>
              </a:spcAft>
              <a:buNone/>
            </a:pPr>
            <a:r>
              <a:rPr lang="en-US" sz="1400" dirty="0">
                <a:solidFill>
                  <a:srgbClr val="1F1F1F"/>
                </a:solidFill>
                <a:latin typeface="Sora" pitchFamily="34" charset="0"/>
                <a:ea typeface="Sora" pitchFamily="34" charset="-122"/>
                <a:cs typeface="Sora" pitchFamily="34" charset="-120"/>
              </a:rPr>
              <a:t>Take the three weak prompts in your workbook. Rewrite each using the R-T-C-F-C framework. Run the weak and strong versions in ChatGPT or Claude and paste both outputs into your workbook so you can see the difference.</a:t>
            </a:r>
            <a:endParaRPr lang="en-US" sz="1400" dirty="0"/>
          </a:p>
        </p:txBody>
      </p:sp>
      <p:sp>
        <p:nvSpPr>
          <p:cNvPr id="9" name="Text 7"/>
          <p:cNvSpPr/>
          <p:nvPr/>
        </p:nvSpPr>
        <p:spPr>
          <a:xfrm>
            <a:off x="6400800" y="1920240"/>
            <a:ext cx="530352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ACCEPTANCE CRITERIA</a:t>
            </a:r>
            <a:endParaRPr lang="en-US" sz="1100" dirty="0"/>
          </a:p>
        </p:txBody>
      </p:sp>
      <p:sp>
        <p:nvSpPr>
          <p:cNvPr id="10" name="Text 8"/>
          <p:cNvSpPr/>
          <p:nvPr/>
        </p:nvSpPr>
        <p:spPr>
          <a:xfrm>
            <a:off x="6400800" y="2240280"/>
            <a:ext cx="5303520" cy="2926080"/>
          </a:xfrm>
          <a:prstGeom prst="rect">
            <a:avLst/>
          </a:prstGeom>
          <a:noFill/>
          <a:ln/>
        </p:spPr>
        <p:txBody>
          <a:bodyPr wrap="square" rtlCol="0" anchor="ctr"/>
          <a:lstStyle/>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All three prompts rewritten with every RTCFC element present</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Both outputs (weak + strong) captured side-by-side</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A one-line note per pair: what changed about the output</a:t>
            </a:r>
            <a:endParaRPr lang="en-US" sz="1300" dirty="0"/>
          </a:p>
        </p:txBody>
      </p:sp>
      <p:sp>
        <p:nvSpPr>
          <p:cNvPr id="11" name="Shape 9"/>
          <p:cNvSpPr/>
          <p:nvPr/>
        </p:nvSpPr>
        <p:spPr>
          <a:xfrm>
            <a:off x="640080" y="4617721"/>
            <a:ext cx="11064240" cy="1783079"/>
          </a:xfrm>
          <a:prstGeom prst="rect">
            <a:avLst/>
          </a:prstGeom>
          <a:solidFill>
            <a:srgbClr val="FFFFFF"/>
          </a:solidFill>
          <a:ln w="12700">
            <a:solidFill>
              <a:srgbClr val="F5A623"/>
            </a:solidFill>
            <a:prstDash val="solid"/>
          </a:ln>
        </p:spPr>
        <p:txBody>
          <a:bodyPr/>
          <a:lstStyle/>
          <a:p>
            <a:endParaRPr lang="en-US"/>
          </a:p>
        </p:txBody>
      </p:sp>
      <p:sp>
        <p:nvSpPr>
          <p:cNvPr id="12" name="Text 10"/>
          <p:cNvSpPr/>
          <p:nvPr/>
        </p:nvSpPr>
        <p:spPr>
          <a:xfrm>
            <a:off x="822960" y="4709160"/>
            <a:ext cx="4572000" cy="320040"/>
          </a:xfrm>
          <a:prstGeom prst="rect">
            <a:avLst/>
          </a:prstGeom>
          <a:noFill/>
          <a:ln/>
        </p:spPr>
        <p:txBody>
          <a:bodyPr wrap="square" rtlCol="0" anchor="ctr"/>
          <a:lstStyle/>
          <a:p>
            <a:pPr marL="0" indent="0">
              <a:buNone/>
            </a:pPr>
            <a:r>
              <a:rPr lang="en-US" sz="1100" b="1" kern="0" spc="600" dirty="0">
                <a:solidFill>
                  <a:srgbClr val="E07D0C"/>
                </a:solidFill>
                <a:latin typeface="Sora" pitchFamily="34" charset="0"/>
                <a:ea typeface="Sora" pitchFamily="34" charset="-122"/>
                <a:cs typeface="Sora" pitchFamily="34" charset="-120"/>
              </a:rPr>
              <a:t>Suggested steps</a:t>
            </a:r>
            <a:endParaRPr lang="en-US" sz="1100" dirty="0"/>
          </a:p>
        </p:txBody>
      </p:sp>
      <p:sp>
        <p:nvSpPr>
          <p:cNvPr id="13" name="Text 11"/>
          <p:cNvSpPr/>
          <p:nvPr/>
        </p:nvSpPr>
        <p:spPr>
          <a:xfrm>
            <a:off x="822960" y="5166360"/>
            <a:ext cx="10881360" cy="1188720"/>
          </a:xfrm>
          <a:prstGeom prst="rect">
            <a:avLst/>
          </a:prstGeom>
          <a:noFill/>
          <a:ln/>
        </p:spPr>
        <p:txBody>
          <a:bodyPr wrap="square" rtlCol="0" anchor="ctr"/>
          <a:lstStyle/>
          <a:p>
            <a:r>
              <a:rPr lang="en-US" sz="1100" dirty="0">
                <a:solidFill>
                  <a:srgbClr val="6B6B6B"/>
                </a:solidFill>
                <a:latin typeface="Sora" pitchFamily="34" charset="0"/>
                <a:ea typeface="Sora" pitchFamily="34" charset="-122"/>
                <a:cs typeface="Sora" pitchFamily="34" charset="-120"/>
              </a:rPr>
              <a:t>1. Read the weak prompt and spot what's missing (role? format? constraint?) </a:t>
            </a:r>
          </a:p>
          <a:p>
            <a:r>
              <a:rPr lang="en-US" sz="1100" dirty="0">
                <a:solidFill>
                  <a:srgbClr val="6B6B6B"/>
                </a:solidFill>
                <a:latin typeface="Sora" pitchFamily="34" charset="0"/>
                <a:ea typeface="Sora" pitchFamily="34" charset="-122"/>
                <a:cs typeface="Sora" pitchFamily="34" charset="-120"/>
              </a:rPr>
              <a:t>2. Write the strong version — include every RTCFC element</a:t>
            </a:r>
          </a:p>
          <a:p>
            <a:r>
              <a:rPr lang="en-US" sz="1100" dirty="0">
                <a:solidFill>
                  <a:srgbClr val="6B6B6B"/>
                </a:solidFill>
                <a:latin typeface="Sora" pitchFamily="34" charset="0"/>
                <a:ea typeface="Sora" pitchFamily="34" charset="-122"/>
                <a:cs typeface="Sora" pitchFamily="34" charset="-120"/>
              </a:rPr>
              <a:t>3. Run the weak prompt first, paste the output</a:t>
            </a:r>
          </a:p>
          <a:p>
            <a:r>
              <a:rPr lang="en-US" sz="1100" dirty="0">
                <a:solidFill>
                  <a:srgbClr val="6B6B6B"/>
                </a:solidFill>
                <a:latin typeface="Sora" pitchFamily="34" charset="0"/>
                <a:ea typeface="Sora" pitchFamily="34" charset="-122"/>
                <a:cs typeface="Sora" pitchFamily="34" charset="-120"/>
              </a:rPr>
              <a:t>4. Run the strong prompt, paste the output </a:t>
            </a:r>
          </a:p>
          <a:p>
            <a:r>
              <a:rPr lang="en-US" sz="1100" dirty="0">
                <a:solidFill>
                  <a:srgbClr val="6B6B6B"/>
                </a:solidFill>
                <a:latin typeface="Sora" pitchFamily="34" charset="0"/>
                <a:ea typeface="Sora" pitchFamily="34" charset="-122"/>
                <a:cs typeface="Sora" pitchFamily="34" charset="-120"/>
              </a:rPr>
              <a:t>5. Write a one-line 'difference' observation</a:t>
            </a:r>
            <a:endParaRPr lang="en-US" sz="1100" dirty="0"/>
          </a:p>
        </p:txBody>
      </p:sp>
      <p:pic>
        <p:nvPicPr>
          <p:cNvPr id="14"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8C71B-3415-6D60-8BFE-EA079249068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E142B94-5248-6FDD-A9DD-933BCBDB5CA0}"/>
              </a:ext>
            </a:extLst>
          </p:cNvPr>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Prompt 1</a:t>
            </a:r>
            <a:endParaRPr lang="en-US" sz="3200" dirty="0"/>
          </a:p>
        </p:txBody>
      </p:sp>
      <p:sp>
        <p:nvSpPr>
          <p:cNvPr id="4" name="Shape 2">
            <a:extLst>
              <a:ext uri="{FF2B5EF4-FFF2-40B4-BE49-F238E27FC236}">
                <a16:creationId xmlns:a16="http://schemas.microsoft.com/office/drawing/2014/main" id="{244DB2E8-2485-5CE3-857F-A10F1DE8FF35}"/>
              </a:ext>
            </a:extLst>
          </p:cNvPr>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a:extLst>
              <a:ext uri="{FF2B5EF4-FFF2-40B4-BE49-F238E27FC236}">
                <a16:creationId xmlns:a16="http://schemas.microsoft.com/office/drawing/2014/main" id="{7D81B8AE-BF03-76AA-E7DF-3CBC8723B49A}"/>
              </a:ext>
            </a:extLst>
          </p:cNvPr>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a:extLst>
              <a:ext uri="{FF2B5EF4-FFF2-40B4-BE49-F238E27FC236}">
                <a16:creationId xmlns:a16="http://schemas.microsoft.com/office/drawing/2014/main" id="{5976A07A-113C-5BBE-518B-4F5D3F1A078B}"/>
              </a:ext>
            </a:extLst>
          </p:cNvPr>
          <p:cNvSpPr/>
          <p:nvPr/>
        </p:nvSpPr>
        <p:spPr>
          <a:xfrm>
            <a:off x="914400" y="1920240"/>
            <a:ext cx="10607040" cy="777240"/>
          </a:xfrm>
          <a:prstGeom prst="rect">
            <a:avLst/>
          </a:prstGeom>
          <a:noFill/>
          <a:ln/>
        </p:spPr>
        <p:txBody>
          <a:bodyPr wrap="square" rtlCol="0" anchor="ctr"/>
          <a:lstStyle/>
          <a:p>
            <a:r>
              <a:rPr lang="en-GB" dirty="0"/>
              <a:t>Write a homepage introduction for a roofing company.</a:t>
            </a:r>
          </a:p>
        </p:txBody>
      </p:sp>
      <p:sp>
        <p:nvSpPr>
          <p:cNvPr id="7" name="Shape 5">
            <a:extLst>
              <a:ext uri="{FF2B5EF4-FFF2-40B4-BE49-F238E27FC236}">
                <a16:creationId xmlns:a16="http://schemas.microsoft.com/office/drawing/2014/main" id="{C16687C3-A510-82D1-074D-79BBF746666D}"/>
              </a:ext>
            </a:extLst>
          </p:cNvPr>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a:extLst>
              <a:ext uri="{FF2B5EF4-FFF2-40B4-BE49-F238E27FC236}">
                <a16:creationId xmlns:a16="http://schemas.microsoft.com/office/drawing/2014/main" id="{5DF078CE-3146-D6B9-B79C-744F584B2E09}"/>
              </a:ext>
            </a:extLst>
          </p:cNvPr>
          <p:cNvSpPr/>
          <p:nvPr/>
        </p:nvSpPr>
        <p:spPr>
          <a:xfrm>
            <a:off x="914400" y="2697480"/>
            <a:ext cx="10607040" cy="777240"/>
          </a:xfrm>
          <a:prstGeom prst="rect">
            <a:avLst/>
          </a:prstGeom>
          <a:noFill/>
          <a:ln/>
        </p:spPr>
        <p:txBody>
          <a:bodyPr wrap="square" rtlCol="0" anchor="ctr"/>
          <a:lstStyle/>
          <a:p>
            <a:pPr>
              <a:spcAft>
                <a:spcPts val="400"/>
              </a:spcAft>
            </a:pPr>
            <a:r>
              <a:rPr lang="en-GB" dirty="0"/>
              <a:t>You are a conversion-focused website copywriter. Write a 150-word homepage introduction for a Warwickshire roofing company. Audience: homeowners. Emphasise trust, local expertise and free quotations. UK English. End with a call to action.</a:t>
            </a:r>
            <a:r>
              <a:rPr lang="en-GB" sz="1600" dirty="0"/>
              <a:t> </a:t>
            </a:r>
            <a:endParaRPr lang="en-US" sz="1700" dirty="0"/>
          </a:p>
        </p:txBody>
      </p:sp>
      <p:sp>
        <p:nvSpPr>
          <p:cNvPr id="9" name="Shape 7">
            <a:extLst>
              <a:ext uri="{FF2B5EF4-FFF2-40B4-BE49-F238E27FC236}">
                <a16:creationId xmlns:a16="http://schemas.microsoft.com/office/drawing/2014/main" id="{935AEDA2-609A-D537-10A7-8823CF0707E1}"/>
              </a:ext>
            </a:extLst>
          </p:cNvPr>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a:extLst>
              <a:ext uri="{FF2B5EF4-FFF2-40B4-BE49-F238E27FC236}">
                <a16:creationId xmlns:a16="http://schemas.microsoft.com/office/drawing/2014/main" id="{13D1400A-F1D3-ECC0-2FC3-A90DBD00B0E4}"/>
              </a:ext>
            </a:extLst>
          </p:cNvPr>
          <p:cNvSpPr/>
          <p:nvPr/>
        </p:nvSpPr>
        <p:spPr>
          <a:xfrm>
            <a:off x="914400" y="3474720"/>
            <a:ext cx="10607040" cy="777240"/>
          </a:xfrm>
          <a:prstGeom prst="rect">
            <a:avLst/>
          </a:prstGeom>
          <a:noFill/>
          <a:ln/>
        </p:spPr>
        <p:txBody>
          <a:bodyPr wrap="square" rtlCol="0" anchor="ctr"/>
          <a:lstStyle/>
          <a:p>
            <a:pPr>
              <a:spcAft>
                <a:spcPts val="400"/>
              </a:spcAft>
            </a:pPr>
            <a:r>
              <a:rPr lang="en-GB" dirty="0"/>
              <a:t>Make it more conversational, reduce jargon and increase the focus on completed projects and customer reviews.</a:t>
            </a:r>
            <a:r>
              <a:rPr lang="en-GB" sz="1600" dirty="0"/>
              <a:t> </a:t>
            </a:r>
            <a:endParaRPr lang="en-US" sz="1700" dirty="0"/>
          </a:p>
        </p:txBody>
      </p:sp>
      <p:pic>
        <p:nvPicPr>
          <p:cNvPr id="11" name="Image 0" descr="/sessions/determined-blissful-franklin/mnt/CourseCreator/assets/logo.jpeg">
            <a:extLst>
              <a:ext uri="{FF2B5EF4-FFF2-40B4-BE49-F238E27FC236}">
                <a16:creationId xmlns:a16="http://schemas.microsoft.com/office/drawing/2014/main" id="{B73ED4A4-9148-031A-FCCF-6F97B040892E}"/>
              </a:ext>
            </a:extLst>
          </p:cNvPr>
          <p:cNvPicPr>
            <a:picLocks noChangeAspect="1"/>
          </p:cNvPicPr>
          <p:nvPr/>
        </p:nvPicPr>
        <p:blipFill>
          <a:blip r:embed="rId3"/>
          <a:stretch>
            <a:fillRect/>
          </a:stretch>
        </p:blipFill>
        <p:spPr>
          <a:xfrm>
            <a:off x="10957255" y="6172200"/>
            <a:ext cx="1051560" cy="594360"/>
          </a:xfrm>
          <a:prstGeom prst="rect">
            <a:avLst/>
          </a:prstGeom>
        </p:spPr>
      </p:pic>
      <p:sp>
        <p:nvSpPr>
          <p:cNvPr id="12" name="Text 9">
            <a:extLst>
              <a:ext uri="{FF2B5EF4-FFF2-40B4-BE49-F238E27FC236}">
                <a16:creationId xmlns:a16="http://schemas.microsoft.com/office/drawing/2014/main" id="{309BC1C2-D430-EAD6-8A20-BEA1DD0E75FB}"/>
              </a:ext>
            </a:extLst>
          </p:cNvPr>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Weak vs strong — a rewrite</a:t>
            </a:r>
            <a:endParaRPr lang="en-US" sz="900" dirty="0"/>
          </a:p>
        </p:txBody>
      </p:sp>
    </p:spTree>
    <p:extLst>
      <p:ext uri="{BB962C8B-B14F-4D97-AF65-F5344CB8AC3E}">
        <p14:creationId xmlns:p14="http://schemas.microsoft.com/office/powerpoint/2010/main" val="4130385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7768-6174-6FB6-B448-98F5E1B3395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40211A6-D08B-789E-5F49-2224CFB8D73E}"/>
              </a:ext>
            </a:extLst>
          </p:cNvPr>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Prompt 2</a:t>
            </a:r>
            <a:endParaRPr lang="en-US" sz="3200" dirty="0"/>
          </a:p>
        </p:txBody>
      </p:sp>
      <p:sp>
        <p:nvSpPr>
          <p:cNvPr id="4" name="Shape 2">
            <a:extLst>
              <a:ext uri="{FF2B5EF4-FFF2-40B4-BE49-F238E27FC236}">
                <a16:creationId xmlns:a16="http://schemas.microsoft.com/office/drawing/2014/main" id="{A1ADD749-A1CF-60A9-0454-5BF6A91577C2}"/>
              </a:ext>
            </a:extLst>
          </p:cNvPr>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a:extLst>
              <a:ext uri="{FF2B5EF4-FFF2-40B4-BE49-F238E27FC236}">
                <a16:creationId xmlns:a16="http://schemas.microsoft.com/office/drawing/2014/main" id="{FEBA4D8D-BA1B-8B43-DA22-2F1E07B55B0C}"/>
              </a:ext>
            </a:extLst>
          </p:cNvPr>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a:extLst>
              <a:ext uri="{FF2B5EF4-FFF2-40B4-BE49-F238E27FC236}">
                <a16:creationId xmlns:a16="http://schemas.microsoft.com/office/drawing/2014/main" id="{69E40071-5639-D173-E013-9F22F933E737}"/>
              </a:ext>
            </a:extLst>
          </p:cNvPr>
          <p:cNvSpPr/>
          <p:nvPr/>
        </p:nvSpPr>
        <p:spPr>
          <a:xfrm>
            <a:off x="914400" y="1920240"/>
            <a:ext cx="10607040" cy="777240"/>
          </a:xfrm>
          <a:prstGeom prst="rect">
            <a:avLst/>
          </a:prstGeom>
          <a:noFill/>
          <a:ln/>
        </p:spPr>
        <p:txBody>
          <a:bodyPr wrap="square" rtlCol="0" anchor="ctr"/>
          <a:lstStyle/>
          <a:p>
            <a:r>
              <a:rPr lang="en-GB" dirty="0"/>
              <a:t>Write a marketing email about our new CRM software.</a:t>
            </a:r>
          </a:p>
        </p:txBody>
      </p:sp>
      <p:sp>
        <p:nvSpPr>
          <p:cNvPr id="7" name="Shape 5">
            <a:extLst>
              <a:ext uri="{FF2B5EF4-FFF2-40B4-BE49-F238E27FC236}">
                <a16:creationId xmlns:a16="http://schemas.microsoft.com/office/drawing/2014/main" id="{F8D0939E-5E64-EAEB-2AD4-B073CEBA9588}"/>
              </a:ext>
            </a:extLst>
          </p:cNvPr>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a:extLst>
              <a:ext uri="{FF2B5EF4-FFF2-40B4-BE49-F238E27FC236}">
                <a16:creationId xmlns:a16="http://schemas.microsoft.com/office/drawing/2014/main" id="{B0804FBD-921F-2116-8F40-8E9D051AA88B}"/>
              </a:ext>
            </a:extLst>
          </p:cNvPr>
          <p:cNvSpPr/>
          <p:nvPr/>
        </p:nvSpPr>
        <p:spPr>
          <a:xfrm>
            <a:off x="914400" y="3944620"/>
            <a:ext cx="10607040" cy="777240"/>
          </a:xfrm>
          <a:prstGeom prst="rect">
            <a:avLst/>
          </a:prstGeom>
          <a:noFill/>
          <a:ln/>
        </p:spPr>
        <p:txBody>
          <a:bodyPr wrap="square" rtlCol="0" anchor="ctr"/>
          <a:lstStyle/>
          <a:p>
            <a:r>
              <a:rPr lang="en-GB" dirty="0"/>
              <a:t>You are a B2B email marketing specialist.</a:t>
            </a:r>
          </a:p>
          <a:p>
            <a:r>
              <a:rPr lang="en-GB" dirty="0"/>
              <a:t>Write a promotional email announcing a new CRM platform for small businesses.</a:t>
            </a:r>
          </a:p>
          <a:p>
            <a:r>
              <a:rPr lang="en-GB" dirty="0"/>
              <a:t>Context:</a:t>
            </a:r>
          </a:p>
          <a:p>
            <a:r>
              <a:rPr lang="en-GB" dirty="0"/>
              <a:t>Audience: business owners with fewer than 50 employees</a:t>
            </a:r>
          </a:p>
          <a:p>
            <a:r>
              <a:rPr lang="en-GB" dirty="0"/>
              <a:t>Main benefits: automation, customer tracking and reporting</a:t>
            </a:r>
          </a:p>
          <a:p>
            <a:r>
              <a:rPr lang="en-GB" dirty="0"/>
              <a:t>Goal: encourage users to book a demo</a:t>
            </a:r>
          </a:p>
          <a:p>
            <a:r>
              <a:rPr lang="en-GB" dirty="0"/>
              <a:t>Format: Subject line, Preview text, Email body</a:t>
            </a:r>
            <a:br>
              <a:rPr lang="en-GB" dirty="0"/>
            </a:br>
            <a:endParaRPr lang="en-GB" dirty="0"/>
          </a:p>
          <a:p>
            <a:r>
              <a:rPr lang="en-GB" dirty="0"/>
              <a:t>Constraints:</a:t>
            </a:r>
          </a:p>
          <a:p>
            <a:r>
              <a:rPr lang="en-GB" dirty="0"/>
              <a:t>UK English, Friendly and professional tone, Under 250 words, Include a clear call to action</a:t>
            </a:r>
          </a:p>
        </p:txBody>
      </p:sp>
      <p:pic>
        <p:nvPicPr>
          <p:cNvPr id="11" name="Image 0" descr="/sessions/determined-blissful-franklin/mnt/CourseCreator/assets/logo.jpeg">
            <a:extLst>
              <a:ext uri="{FF2B5EF4-FFF2-40B4-BE49-F238E27FC236}">
                <a16:creationId xmlns:a16="http://schemas.microsoft.com/office/drawing/2014/main" id="{E9C38F0C-D09F-A552-E3BD-E2F30767D456}"/>
              </a:ext>
            </a:extLst>
          </p:cNvPr>
          <p:cNvPicPr>
            <a:picLocks noChangeAspect="1"/>
          </p:cNvPicPr>
          <p:nvPr/>
        </p:nvPicPr>
        <p:blipFill>
          <a:blip r:embed="rId3"/>
          <a:stretch>
            <a:fillRect/>
          </a:stretch>
        </p:blipFill>
        <p:spPr>
          <a:xfrm>
            <a:off x="10957255" y="6172200"/>
            <a:ext cx="1051560" cy="594360"/>
          </a:xfrm>
          <a:prstGeom prst="rect">
            <a:avLst/>
          </a:prstGeom>
        </p:spPr>
      </p:pic>
      <p:sp>
        <p:nvSpPr>
          <p:cNvPr id="12" name="Text 9">
            <a:extLst>
              <a:ext uri="{FF2B5EF4-FFF2-40B4-BE49-F238E27FC236}">
                <a16:creationId xmlns:a16="http://schemas.microsoft.com/office/drawing/2014/main" id="{7A9EDFCE-6A52-4BB1-BCD4-E48154C36C46}"/>
              </a:ext>
            </a:extLst>
          </p:cNvPr>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Weak vs strong — a rewrite</a:t>
            </a:r>
            <a:endParaRPr lang="en-US" sz="900" dirty="0"/>
          </a:p>
        </p:txBody>
      </p:sp>
    </p:spTree>
    <p:extLst>
      <p:ext uri="{BB962C8B-B14F-4D97-AF65-F5344CB8AC3E}">
        <p14:creationId xmlns:p14="http://schemas.microsoft.com/office/powerpoint/2010/main" val="2100124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67B4F-0C5D-65FD-AFE5-D9A4B6FEAE4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533A315-1DEA-FDB5-4B41-CC80B083A761}"/>
              </a:ext>
            </a:extLst>
          </p:cNvPr>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Prompt 3</a:t>
            </a:r>
            <a:endParaRPr lang="en-US" sz="3200" dirty="0"/>
          </a:p>
        </p:txBody>
      </p:sp>
      <p:sp>
        <p:nvSpPr>
          <p:cNvPr id="4" name="Shape 2">
            <a:extLst>
              <a:ext uri="{FF2B5EF4-FFF2-40B4-BE49-F238E27FC236}">
                <a16:creationId xmlns:a16="http://schemas.microsoft.com/office/drawing/2014/main" id="{8AC81279-8638-59D1-27D2-6B685B31F579}"/>
              </a:ext>
            </a:extLst>
          </p:cNvPr>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a:extLst>
              <a:ext uri="{FF2B5EF4-FFF2-40B4-BE49-F238E27FC236}">
                <a16:creationId xmlns:a16="http://schemas.microsoft.com/office/drawing/2014/main" id="{100650BE-5304-3BBE-A942-77CA1F1CAAFA}"/>
              </a:ext>
            </a:extLst>
          </p:cNvPr>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a:extLst>
              <a:ext uri="{FF2B5EF4-FFF2-40B4-BE49-F238E27FC236}">
                <a16:creationId xmlns:a16="http://schemas.microsoft.com/office/drawing/2014/main" id="{806F18D2-2961-299C-A256-67B6A338B420}"/>
              </a:ext>
            </a:extLst>
          </p:cNvPr>
          <p:cNvSpPr/>
          <p:nvPr/>
        </p:nvSpPr>
        <p:spPr>
          <a:xfrm>
            <a:off x="914400" y="1920240"/>
            <a:ext cx="10607040" cy="777240"/>
          </a:xfrm>
          <a:prstGeom prst="rect">
            <a:avLst/>
          </a:prstGeom>
          <a:noFill/>
          <a:ln/>
        </p:spPr>
        <p:txBody>
          <a:bodyPr wrap="square" rtlCol="0" anchor="ctr"/>
          <a:lstStyle/>
          <a:p>
            <a:r>
              <a:rPr lang="en-GB" dirty="0"/>
              <a:t>Analyse this spreadsheet.</a:t>
            </a:r>
          </a:p>
        </p:txBody>
      </p:sp>
      <p:sp>
        <p:nvSpPr>
          <p:cNvPr id="7" name="Shape 5">
            <a:extLst>
              <a:ext uri="{FF2B5EF4-FFF2-40B4-BE49-F238E27FC236}">
                <a16:creationId xmlns:a16="http://schemas.microsoft.com/office/drawing/2014/main" id="{CDA90769-30D8-0AB1-9DC9-8DE3BEE51698}"/>
              </a:ext>
            </a:extLst>
          </p:cNvPr>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a:extLst>
              <a:ext uri="{FF2B5EF4-FFF2-40B4-BE49-F238E27FC236}">
                <a16:creationId xmlns:a16="http://schemas.microsoft.com/office/drawing/2014/main" id="{79E6C427-1768-478A-4B13-A6410C10B563}"/>
              </a:ext>
            </a:extLst>
          </p:cNvPr>
          <p:cNvSpPr/>
          <p:nvPr/>
        </p:nvSpPr>
        <p:spPr>
          <a:xfrm>
            <a:off x="914400" y="4059174"/>
            <a:ext cx="10607040" cy="777240"/>
          </a:xfrm>
          <a:prstGeom prst="rect">
            <a:avLst/>
          </a:prstGeom>
          <a:noFill/>
          <a:ln/>
        </p:spPr>
        <p:txBody>
          <a:bodyPr wrap="square" rtlCol="0" anchor="ctr"/>
          <a:lstStyle/>
          <a:p>
            <a:r>
              <a:rPr lang="en-GB" dirty="0"/>
              <a:t>You are a business analyst.</a:t>
            </a:r>
          </a:p>
          <a:p>
            <a:r>
              <a:rPr lang="en-GB" dirty="0"/>
              <a:t>Review the attached sales spreadsheet.</a:t>
            </a:r>
          </a:p>
          <a:p>
            <a:r>
              <a:rPr lang="en-GB" dirty="0"/>
              <a:t>Context: Data covers January – June 2026, Business sells IT support services, Management wants to identify growth opportunities</a:t>
            </a:r>
            <a:br>
              <a:rPr lang="en-GB" dirty="0"/>
            </a:br>
            <a:endParaRPr lang="en-GB" dirty="0"/>
          </a:p>
          <a:p>
            <a:r>
              <a:rPr lang="en-GB" dirty="0"/>
              <a:t>Task: Identify key trends, Highlight the best-performing services, Highlight any areas of concern, Suggest three actions that could improve revenue</a:t>
            </a:r>
          </a:p>
          <a:p>
            <a:r>
              <a:rPr lang="en-GB" dirty="0"/>
              <a:t>Format: Executive Summary, Key Findings, Risks, Recommendations</a:t>
            </a:r>
          </a:p>
          <a:p>
            <a:br>
              <a:rPr lang="en-GB" dirty="0"/>
            </a:br>
            <a:r>
              <a:rPr lang="en-GB" dirty="0"/>
              <a:t>Constraints:</a:t>
            </a:r>
          </a:p>
          <a:p>
            <a:r>
              <a:rPr lang="en-GB" dirty="0"/>
              <a:t>Use bullet points, Explain findings in plain English, Avoid technical statistical jargon</a:t>
            </a:r>
          </a:p>
        </p:txBody>
      </p:sp>
      <p:pic>
        <p:nvPicPr>
          <p:cNvPr id="11" name="Image 0" descr="/sessions/determined-blissful-franklin/mnt/CourseCreator/assets/logo.jpeg">
            <a:extLst>
              <a:ext uri="{FF2B5EF4-FFF2-40B4-BE49-F238E27FC236}">
                <a16:creationId xmlns:a16="http://schemas.microsoft.com/office/drawing/2014/main" id="{8CFD4E37-AE09-FBA6-D28F-D300C9D79443}"/>
              </a:ext>
            </a:extLst>
          </p:cNvPr>
          <p:cNvPicPr>
            <a:picLocks noChangeAspect="1"/>
          </p:cNvPicPr>
          <p:nvPr/>
        </p:nvPicPr>
        <p:blipFill>
          <a:blip r:embed="rId3"/>
          <a:stretch>
            <a:fillRect/>
          </a:stretch>
        </p:blipFill>
        <p:spPr>
          <a:xfrm>
            <a:off x="10957255" y="6172200"/>
            <a:ext cx="1051560" cy="594360"/>
          </a:xfrm>
          <a:prstGeom prst="rect">
            <a:avLst/>
          </a:prstGeom>
        </p:spPr>
      </p:pic>
      <p:sp>
        <p:nvSpPr>
          <p:cNvPr id="12" name="Text 9">
            <a:extLst>
              <a:ext uri="{FF2B5EF4-FFF2-40B4-BE49-F238E27FC236}">
                <a16:creationId xmlns:a16="http://schemas.microsoft.com/office/drawing/2014/main" id="{14F4B403-FA81-D5BB-6A39-6B2AD3447549}"/>
              </a:ext>
            </a:extLst>
          </p:cNvPr>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Weak vs strong — a rewrite</a:t>
            </a:r>
            <a:endParaRPr lang="en-US" sz="900" dirty="0"/>
          </a:p>
        </p:txBody>
      </p:sp>
    </p:spTree>
    <p:extLst>
      <p:ext uri="{BB962C8B-B14F-4D97-AF65-F5344CB8AC3E}">
        <p14:creationId xmlns:p14="http://schemas.microsoft.com/office/powerpoint/2010/main" val="3790274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822960" y="640080"/>
            <a:ext cx="7315200" cy="457200"/>
          </a:xfrm>
          <a:prstGeom prst="rect">
            <a:avLst/>
          </a:prstGeom>
          <a:noFill/>
          <a:ln/>
        </p:spPr>
        <p:txBody>
          <a:bodyPr wrap="square" rtlCol="0" anchor="ctr"/>
          <a:lstStyle/>
          <a:p>
            <a:pPr marL="0" indent="0">
              <a:buNone/>
            </a:pPr>
            <a:r>
              <a:rPr lang="en-US" sz="1600" b="1" kern="0" spc="1200" dirty="0">
                <a:solidFill>
                  <a:srgbClr val="F5A623"/>
                </a:solidFill>
                <a:latin typeface="Sora" pitchFamily="34" charset="0"/>
                <a:ea typeface="Sora" pitchFamily="34" charset="-122"/>
                <a:cs typeface="Sora" pitchFamily="34" charset="-120"/>
              </a:rPr>
              <a:t>TUITION  ·  03</a:t>
            </a:r>
            <a:endParaRPr lang="en-US" sz="1600" dirty="0"/>
          </a:p>
        </p:txBody>
      </p:sp>
      <p:sp>
        <p:nvSpPr>
          <p:cNvPr id="4" name="Text 2"/>
          <p:cNvSpPr/>
          <p:nvPr/>
        </p:nvSpPr>
        <p:spPr>
          <a:xfrm>
            <a:off x="8076895" y="914400"/>
            <a:ext cx="3657600" cy="5669280"/>
          </a:xfrm>
          <a:prstGeom prst="rect">
            <a:avLst/>
          </a:prstGeom>
          <a:noFill/>
          <a:ln/>
        </p:spPr>
        <p:txBody>
          <a:bodyPr wrap="square" rtlCol="0" anchor="b"/>
          <a:lstStyle/>
          <a:p>
            <a:pPr marL="0" indent="0" algn="r">
              <a:buNone/>
            </a:pPr>
            <a:r>
              <a:rPr lang="en-US" sz="42000" b="1" dirty="0">
                <a:solidFill>
                  <a:srgbClr val="F5A623"/>
                </a:solidFill>
                <a:latin typeface="Sora" pitchFamily="34" charset="0"/>
                <a:ea typeface="Sora" pitchFamily="34" charset="-122"/>
                <a:cs typeface="Sora" pitchFamily="34" charset="-120"/>
              </a:rPr>
              <a:t>3</a:t>
            </a:r>
            <a:endParaRPr lang="en-US" sz="42000" dirty="0"/>
          </a:p>
        </p:txBody>
      </p:sp>
      <p:sp>
        <p:nvSpPr>
          <p:cNvPr id="5" name="Text 3"/>
          <p:cNvSpPr/>
          <p:nvPr/>
        </p:nvSpPr>
        <p:spPr>
          <a:xfrm>
            <a:off x="822960" y="1554480"/>
            <a:ext cx="9144000" cy="1463040"/>
          </a:xfrm>
          <a:prstGeom prst="rect">
            <a:avLst/>
          </a:prstGeom>
          <a:noFill/>
          <a:ln/>
        </p:spPr>
        <p:txBody>
          <a:bodyPr wrap="square" rtlCol="0" anchor="t"/>
          <a:lstStyle/>
          <a:p>
            <a:pPr marL="0" indent="0">
              <a:buNone/>
            </a:pPr>
            <a:r>
              <a:rPr lang="en-US" sz="5200" b="1" dirty="0">
                <a:latin typeface="Sora" pitchFamily="34" charset="0"/>
                <a:ea typeface="Sora" pitchFamily="34" charset="-122"/>
                <a:cs typeface="Sora" pitchFamily="34" charset="-120"/>
              </a:rPr>
              <a:t>Custom GPTs &amp; </a:t>
            </a:r>
          </a:p>
          <a:p>
            <a:pPr marL="0" indent="0">
              <a:buNone/>
            </a:pPr>
            <a:r>
              <a:rPr lang="en-US" sz="5200" b="1" dirty="0">
                <a:latin typeface="Sora" pitchFamily="34" charset="0"/>
                <a:ea typeface="Sora" pitchFamily="34" charset="-122"/>
                <a:cs typeface="Sora" pitchFamily="34" charset="-120"/>
              </a:rPr>
              <a:t>Claude Projects</a:t>
            </a:r>
            <a:endParaRPr lang="en-US" sz="5200" dirty="0"/>
          </a:p>
        </p:txBody>
      </p:sp>
      <p:sp>
        <p:nvSpPr>
          <p:cNvPr id="6" name="Text 4"/>
          <p:cNvSpPr/>
          <p:nvPr/>
        </p:nvSpPr>
        <p:spPr>
          <a:xfrm>
            <a:off x="822960" y="3017520"/>
            <a:ext cx="8229600" cy="640080"/>
          </a:xfrm>
          <a:prstGeom prst="rect">
            <a:avLst/>
          </a:prstGeom>
          <a:noFill/>
          <a:ln/>
        </p:spPr>
        <p:txBody>
          <a:bodyPr wrap="square" rtlCol="0" anchor="ctr"/>
          <a:lstStyle/>
          <a:p>
            <a:pPr marL="0" indent="0">
              <a:buNone/>
            </a:pPr>
            <a:r>
              <a:rPr lang="en-US" sz="2200" i="1" dirty="0">
                <a:solidFill>
                  <a:srgbClr val="FFD18A"/>
                </a:solidFill>
                <a:latin typeface="Sora" pitchFamily="34" charset="0"/>
                <a:ea typeface="Sora" pitchFamily="34" charset="-122"/>
                <a:cs typeface="Sora" pitchFamily="34" charset="-120"/>
              </a:rPr>
              <a:t>From one-off prompts to reusable assistants</a:t>
            </a:r>
            <a:endParaRPr lang="en-US" sz="2200" dirty="0"/>
          </a:p>
        </p:txBody>
      </p:sp>
      <p:sp>
        <p:nvSpPr>
          <p:cNvPr id="7" name="Shape 5"/>
          <p:cNvSpPr/>
          <p:nvPr/>
        </p:nvSpPr>
        <p:spPr>
          <a:xfrm>
            <a:off x="822960" y="4114800"/>
            <a:ext cx="73152" cy="1554480"/>
          </a:xfrm>
          <a:prstGeom prst="rect">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1051560" y="4114800"/>
            <a:ext cx="7315200" cy="365760"/>
          </a:xfrm>
          <a:prstGeom prst="rect">
            <a:avLst/>
          </a:prstGeom>
          <a:noFill/>
          <a:ln/>
        </p:spPr>
        <p:txBody>
          <a:bodyPr wrap="square" rtlCol="0" anchor="ctr"/>
          <a:lstStyle/>
          <a:p>
            <a:pPr marL="0" indent="0">
              <a:buNone/>
            </a:pPr>
            <a:r>
              <a:rPr lang="en-US" sz="1100" b="1" kern="0" spc="800" dirty="0">
                <a:solidFill>
                  <a:srgbClr val="F5A623"/>
                </a:solidFill>
                <a:latin typeface="Sora" pitchFamily="34" charset="0"/>
                <a:ea typeface="Sora" pitchFamily="34" charset="-122"/>
                <a:cs typeface="Sora" pitchFamily="34" charset="-120"/>
              </a:rPr>
              <a:t>BLOCK OBJECTIVE</a:t>
            </a:r>
            <a:endParaRPr lang="en-US" sz="1100" dirty="0"/>
          </a:p>
        </p:txBody>
      </p:sp>
      <p:sp>
        <p:nvSpPr>
          <p:cNvPr id="9" name="Text 7"/>
          <p:cNvSpPr/>
          <p:nvPr/>
        </p:nvSpPr>
        <p:spPr>
          <a:xfrm>
            <a:off x="1051560" y="4480560"/>
            <a:ext cx="7315200" cy="1188720"/>
          </a:xfrm>
          <a:prstGeom prst="rect">
            <a:avLst/>
          </a:prstGeom>
          <a:noFill/>
          <a:ln/>
        </p:spPr>
        <p:txBody>
          <a:bodyPr wrap="square" rtlCol="0" anchor="ctr"/>
          <a:lstStyle/>
          <a:p>
            <a:pPr marL="0" indent="0">
              <a:buNone/>
            </a:pPr>
            <a:r>
              <a:rPr lang="en-US" sz="1700" dirty="0">
                <a:latin typeface="Sora" pitchFamily="34" charset="0"/>
                <a:ea typeface="Sora" pitchFamily="34" charset="-122"/>
                <a:cs typeface="Sora" pitchFamily="34" charset="-120"/>
              </a:rPr>
              <a:t>By the end of this block you'll understand how to package a workflow into a reusable AI assistant.</a:t>
            </a:r>
            <a:endParaRPr lang="en-US" sz="1700" dirty="0"/>
          </a:p>
        </p:txBody>
      </p:sp>
      <p:pic>
        <p:nvPicPr>
          <p:cNvPr id="11" name="Picture 10">
            <a:extLst>
              <a:ext uri="{FF2B5EF4-FFF2-40B4-BE49-F238E27FC236}">
                <a16:creationId xmlns:a16="http://schemas.microsoft.com/office/drawing/2014/main" id="{F3FF37AD-2C9A-C71C-7CD9-7F343F2E7D3C}"/>
              </a:ext>
            </a:extLst>
          </p:cNvPr>
          <p:cNvPicPr>
            <a:picLocks noChangeAspect="1"/>
          </p:cNvPicPr>
          <p:nvPr/>
        </p:nvPicPr>
        <p:blipFill>
          <a:blip r:embed="rId3"/>
          <a:stretch>
            <a:fillRect/>
          </a:stretch>
        </p:blipFill>
        <p:spPr>
          <a:xfrm>
            <a:off x="8641080" y="-11194"/>
            <a:ext cx="2965883" cy="16683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What is a Custom GPT / Claude Project?</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A pre-configured AI assistant: system instructions + knowledge files + capabilities</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Solves the 'I keep retyping the same prompt' problem</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Great for recurring workflows, brand tone, specialist knowledge, team-shared tools</a:t>
            </a:r>
            <a:endParaRPr lang="en-US" sz="1700" dirty="0"/>
          </a:p>
        </p:txBody>
      </p:sp>
      <p:pic>
        <p:nvPicPr>
          <p:cNvPr id="11"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2" name="Text 9"/>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What is a Custom GPT / Claude Project?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The four ingredients</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Name &amp; description — how it shows up in the picker</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System instructions — the standing brief the model follows every time</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Knowledge files — documents it can reference (brand guide, FAQ, price list)</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Capabilities — web browsing, code interpreter, image generation, custom tools</a:t>
            </a:r>
            <a:endParaRPr lang="en-US" sz="1700" dirty="0"/>
          </a:p>
        </p:txBody>
      </p:sp>
      <p:pic>
        <p:nvPicPr>
          <p:cNvPr id="13"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4" name="Text 11"/>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The four ingredients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Claude Projects — the equivalent</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Projects bundle a system prompt + reference files + conversation history</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Files stay attached across every conversation in the Project</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Use Projects for a Claude-native version of the same idea</a:t>
            </a:r>
            <a:endParaRPr lang="en-US" sz="1700" dirty="0"/>
          </a:p>
        </p:txBody>
      </p:sp>
      <p:pic>
        <p:nvPicPr>
          <p:cNvPr id="11"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2" name="Text 9"/>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Claude Projects — the equivalent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685800"/>
            <a:ext cx="10972800" cy="914400"/>
          </a:xfrm>
          <a:prstGeom prst="rect">
            <a:avLst/>
          </a:prstGeom>
          <a:noFill/>
          <a:ln/>
        </p:spPr>
        <p:txBody>
          <a:bodyPr wrap="square" rtlCol="0" anchor="ctr"/>
          <a:lstStyle/>
          <a:p>
            <a:pPr marL="0" indent="0">
              <a:buNone/>
            </a:pPr>
            <a:r>
              <a:rPr lang="en-US" sz="3200" b="1" dirty="0">
                <a:solidFill>
                  <a:srgbClr val="1F1F1F"/>
                </a:solidFill>
                <a:latin typeface="Sora" pitchFamily="34" charset="0"/>
                <a:ea typeface="Sora" pitchFamily="34" charset="-122"/>
                <a:cs typeface="Sora" pitchFamily="34" charset="-120"/>
              </a:rPr>
              <a:t>Good practice from day one</a:t>
            </a:r>
            <a:endParaRPr lang="en-US" sz="3200" dirty="0"/>
          </a:p>
        </p:txBody>
      </p:sp>
      <p:sp>
        <p:nvSpPr>
          <p:cNvPr id="4" name="Shape 2"/>
          <p:cNvSpPr/>
          <p:nvPr/>
        </p:nvSpPr>
        <p:spPr>
          <a:xfrm>
            <a:off x="457200" y="1645920"/>
            <a:ext cx="731520" cy="54864"/>
          </a:xfrm>
          <a:prstGeom prst="rect">
            <a:avLst/>
          </a:prstGeom>
          <a:solidFill>
            <a:srgbClr val="F5A623"/>
          </a:solidFill>
          <a:ln w="12700">
            <a:solidFill>
              <a:srgbClr val="F5A623"/>
            </a:solidFill>
            <a:prstDash val="solid"/>
          </a:ln>
        </p:spPr>
        <p:txBody>
          <a:bodyPr/>
          <a:lstStyle/>
          <a:p>
            <a:endParaRPr lang="en-US"/>
          </a:p>
        </p:txBody>
      </p:sp>
      <p:sp>
        <p:nvSpPr>
          <p:cNvPr id="5" name="Shape 3"/>
          <p:cNvSpPr/>
          <p:nvPr/>
        </p:nvSpPr>
        <p:spPr>
          <a:xfrm>
            <a:off x="502920" y="2199132"/>
            <a:ext cx="219456" cy="219456"/>
          </a:xfrm>
          <a:prstGeom prst="ellipse">
            <a:avLst/>
          </a:prstGeom>
          <a:solidFill>
            <a:srgbClr val="F5A623"/>
          </a:solidFill>
          <a:ln w="12700">
            <a:solidFill>
              <a:srgbClr val="F5A623"/>
            </a:solidFill>
            <a:prstDash val="solid"/>
          </a:ln>
        </p:spPr>
        <p:txBody>
          <a:bodyPr/>
          <a:lstStyle/>
          <a:p>
            <a:endParaRPr lang="en-US"/>
          </a:p>
        </p:txBody>
      </p:sp>
      <p:sp>
        <p:nvSpPr>
          <p:cNvPr id="6" name="Text 4"/>
          <p:cNvSpPr/>
          <p:nvPr/>
        </p:nvSpPr>
        <p:spPr>
          <a:xfrm>
            <a:off x="914400" y="192024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Give it a specific, narrow job — 'do one thing well' beats 'do everything'</a:t>
            </a:r>
            <a:endParaRPr lang="en-US" sz="1700" dirty="0"/>
          </a:p>
        </p:txBody>
      </p:sp>
      <p:sp>
        <p:nvSpPr>
          <p:cNvPr id="7" name="Shape 5"/>
          <p:cNvSpPr/>
          <p:nvPr/>
        </p:nvSpPr>
        <p:spPr>
          <a:xfrm>
            <a:off x="502920" y="2976372"/>
            <a:ext cx="219456" cy="219456"/>
          </a:xfrm>
          <a:prstGeom prst="ellipse">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914400" y="269748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Put examples of ideal output in the system instructions</a:t>
            </a:r>
            <a:endParaRPr lang="en-US" sz="1700" dirty="0"/>
          </a:p>
        </p:txBody>
      </p:sp>
      <p:sp>
        <p:nvSpPr>
          <p:cNvPr id="9" name="Shape 7"/>
          <p:cNvSpPr/>
          <p:nvPr/>
        </p:nvSpPr>
        <p:spPr>
          <a:xfrm>
            <a:off x="502920" y="3753612"/>
            <a:ext cx="219456" cy="219456"/>
          </a:xfrm>
          <a:prstGeom prst="ellipse">
            <a:avLst/>
          </a:prstGeom>
          <a:solidFill>
            <a:srgbClr val="F5A623"/>
          </a:solidFill>
          <a:ln w="12700">
            <a:solidFill>
              <a:srgbClr val="F5A623"/>
            </a:solidFill>
            <a:prstDash val="solid"/>
          </a:ln>
        </p:spPr>
        <p:txBody>
          <a:bodyPr/>
          <a:lstStyle/>
          <a:p>
            <a:endParaRPr lang="en-US"/>
          </a:p>
        </p:txBody>
      </p:sp>
      <p:sp>
        <p:nvSpPr>
          <p:cNvPr id="10" name="Text 8"/>
          <p:cNvSpPr/>
          <p:nvPr/>
        </p:nvSpPr>
        <p:spPr>
          <a:xfrm>
            <a:off x="914400" y="347472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Name your versions (v1, v2) as you iterate — don't lose good prompts</a:t>
            </a:r>
            <a:endParaRPr lang="en-US" sz="1700" dirty="0"/>
          </a:p>
        </p:txBody>
      </p:sp>
      <p:sp>
        <p:nvSpPr>
          <p:cNvPr id="11" name="Shape 9"/>
          <p:cNvSpPr/>
          <p:nvPr/>
        </p:nvSpPr>
        <p:spPr>
          <a:xfrm>
            <a:off x="502920" y="4530852"/>
            <a:ext cx="219456" cy="219456"/>
          </a:xfrm>
          <a:prstGeom prst="ellipse">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914400" y="4251960"/>
            <a:ext cx="10607040" cy="777240"/>
          </a:xfrm>
          <a:prstGeom prst="rect">
            <a:avLst/>
          </a:prstGeom>
          <a:noFill/>
          <a:ln/>
        </p:spPr>
        <p:txBody>
          <a:bodyPr wrap="square" rtlCol="0" anchor="ctr"/>
          <a:lstStyle/>
          <a:p>
            <a:pPr marL="0" indent="0">
              <a:spcAft>
                <a:spcPts val="400"/>
              </a:spcAft>
              <a:buNone/>
            </a:pPr>
            <a:r>
              <a:rPr lang="en-US" sz="1700" dirty="0">
                <a:solidFill>
                  <a:srgbClr val="1F1F1F"/>
                </a:solidFill>
                <a:latin typeface="Sora" pitchFamily="34" charset="0"/>
                <a:ea typeface="Sora" pitchFamily="34" charset="-122"/>
                <a:cs typeface="Sora" pitchFamily="34" charset="-120"/>
              </a:rPr>
              <a:t>Test edge cases before sharing it with the team</a:t>
            </a:r>
            <a:endParaRPr lang="en-US" sz="1700" dirty="0"/>
          </a:p>
        </p:txBody>
      </p:sp>
      <p:pic>
        <p:nvPicPr>
          <p:cNvPr id="13"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14" name="Text 11"/>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Good practice from day one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8EC"/>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E07D0C"/>
          </a:solidFill>
          <a:ln w="12700">
            <a:solidFill>
              <a:srgbClr val="E07D0C"/>
            </a:solidFill>
            <a:prstDash val="solid"/>
          </a:ln>
        </p:spPr>
        <p:txBody>
          <a:bodyPr/>
          <a:lstStyle/>
          <a:p>
            <a:endParaRPr lang="en-US"/>
          </a:p>
        </p:txBody>
      </p:sp>
      <p:sp>
        <p:nvSpPr>
          <p:cNvPr id="3" name="Text 1"/>
          <p:cNvSpPr/>
          <p:nvPr/>
        </p:nvSpPr>
        <p:spPr>
          <a:xfrm>
            <a:off x="640080" y="457200"/>
            <a:ext cx="5486400" cy="365760"/>
          </a:xfrm>
          <a:prstGeom prst="rect">
            <a:avLst/>
          </a:prstGeom>
          <a:noFill/>
          <a:ln/>
        </p:spPr>
        <p:txBody>
          <a:bodyPr wrap="square" rtlCol="0" anchor="ctr"/>
          <a:lstStyle/>
          <a:p>
            <a:pPr marL="0" indent="0">
              <a:buNone/>
            </a:pPr>
            <a:r>
              <a:rPr lang="en-US" sz="1300" b="1" kern="0" spc="1000" dirty="0">
                <a:solidFill>
                  <a:srgbClr val="E07D0C"/>
                </a:solidFill>
                <a:latin typeface="Sora" pitchFamily="34" charset="0"/>
                <a:ea typeface="Sora" pitchFamily="34" charset="-122"/>
                <a:cs typeface="Sora" pitchFamily="34" charset="-120"/>
              </a:rPr>
              <a:t>EXERCISE 3</a:t>
            </a:r>
            <a:endParaRPr lang="en-US" sz="1300" dirty="0"/>
          </a:p>
        </p:txBody>
      </p:sp>
      <p:sp>
        <p:nvSpPr>
          <p:cNvPr id="4" name="Shape 2"/>
          <p:cNvSpPr/>
          <p:nvPr/>
        </p:nvSpPr>
        <p:spPr>
          <a:xfrm>
            <a:off x="9875520" y="457200"/>
            <a:ext cx="1874520" cy="457200"/>
          </a:xfrm>
          <a:prstGeom prst="roundRect">
            <a:avLst>
              <a:gd name="adj" fmla="val 16000"/>
            </a:avLst>
          </a:prstGeom>
          <a:solidFill>
            <a:srgbClr val="1F1F1F"/>
          </a:solidFill>
          <a:ln w="12700">
            <a:solidFill>
              <a:srgbClr val="1F1F1F"/>
            </a:solidFill>
            <a:prstDash val="solid"/>
          </a:ln>
        </p:spPr>
        <p:txBody>
          <a:bodyPr/>
          <a:lstStyle/>
          <a:p>
            <a:endParaRPr lang="en-US"/>
          </a:p>
        </p:txBody>
      </p:sp>
      <p:sp>
        <p:nvSpPr>
          <p:cNvPr id="5" name="Text 3"/>
          <p:cNvSpPr/>
          <p:nvPr/>
        </p:nvSpPr>
        <p:spPr>
          <a:xfrm>
            <a:off x="9875520" y="457200"/>
            <a:ext cx="1874520" cy="457200"/>
          </a:xfrm>
          <a:prstGeom prst="rect">
            <a:avLst/>
          </a:prstGeom>
          <a:noFill/>
          <a:ln/>
        </p:spPr>
        <p:txBody>
          <a:bodyPr wrap="square" rtlCol="0" anchor="ctr"/>
          <a:lstStyle/>
          <a:p>
            <a:pPr marL="0" indent="0" algn="ctr">
              <a:buNone/>
            </a:pPr>
            <a:r>
              <a:rPr lang="en-US" sz="1300" b="1" dirty="0">
                <a:solidFill>
                  <a:srgbClr val="FFD18A"/>
                </a:solidFill>
                <a:latin typeface="Sora" pitchFamily="34" charset="0"/>
                <a:ea typeface="Sora" pitchFamily="34" charset="-122"/>
                <a:cs typeface="Sora" pitchFamily="34" charset="-120"/>
              </a:rPr>
              <a:t>20 minutes</a:t>
            </a:r>
            <a:endParaRPr lang="en-US" sz="1300" dirty="0"/>
          </a:p>
        </p:txBody>
      </p:sp>
      <p:sp>
        <p:nvSpPr>
          <p:cNvPr id="6" name="Text 4"/>
          <p:cNvSpPr/>
          <p:nvPr/>
        </p:nvSpPr>
        <p:spPr>
          <a:xfrm>
            <a:off x="640080" y="914400"/>
            <a:ext cx="10972800" cy="91440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Build your own Custom GPT</a:t>
            </a:r>
            <a:endParaRPr lang="en-US" sz="3400" dirty="0"/>
          </a:p>
        </p:txBody>
      </p:sp>
      <p:sp>
        <p:nvSpPr>
          <p:cNvPr id="7" name="Text 5"/>
          <p:cNvSpPr/>
          <p:nvPr/>
        </p:nvSpPr>
        <p:spPr>
          <a:xfrm>
            <a:off x="640080" y="1920240"/>
            <a:ext cx="548640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THE BRIEF</a:t>
            </a:r>
            <a:endParaRPr lang="en-US" sz="1100" dirty="0"/>
          </a:p>
        </p:txBody>
      </p:sp>
      <p:sp>
        <p:nvSpPr>
          <p:cNvPr id="8" name="Text 6"/>
          <p:cNvSpPr/>
          <p:nvPr/>
        </p:nvSpPr>
        <p:spPr>
          <a:xfrm>
            <a:off x="640080" y="2240280"/>
            <a:ext cx="5486400" cy="2926080"/>
          </a:xfrm>
          <a:prstGeom prst="rect">
            <a:avLst/>
          </a:prstGeom>
          <a:noFill/>
          <a:ln/>
        </p:spPr>
        <p:txBody>
          <a:bodyPr wrap="square" rtlCol="0" anchor="ctr"/>
          <a:lstStyle/>
          <a:p>
            <a:pPr marL="0" indent="0">
              <a:spcAft>
                <a:spcPts val="400"/>
              </a:spcAft>
              <a:buNone/>
            </a:pPr>
            <a:r>
              <a:rPr lang="en-US" sz="1400" dirty="0">
                <a:solidFill>
                  <a:srgbClr val="1F1F1F"/>
                </a:solidFill>
                <a:latin typeface="Sora" pitchFamily="34" charset="0"/>
                <a:ea typeface="Sora" pitchFamily="34" charset="-122"/>
                <a:cs typeface="Sora" pitchFamily="34" charset="-120"/>
              </a:rPr>
              <a:t>Build a simple Custom GPT (ChatGPT) or Project (Claude) that answers every question in a chosen style — for example a 'cooking recipe explainer', 'pirate translator', or 'Gen Z marketing reviewer'. You choose the persona; the point is that the behaviour must be consistent without you re-prompting.</a:t>
            </a:r>
            <a:endParaRPr lang="en-US" sz="1400" dirty="0"/>
          </a:p>
        </p:txBody>
      </p:sp>
      <p:sp>
        <p:nvSpPr>
          <p:cNvPr id="9" name="Text 7"/>
          <p:cNvSpPr/>
          <p:nvPr/>
        </p:nvSpPr>
        <p:spPr>
          <a:xfrm>
            <a:off x="6400800" y="1920240"/>
            <a:ext cx="530352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ACCEPTANCE CRITERIA</a:t>
            </a:r>
            <a:endParaRPr lang="en-US" sz="1100" dirty="0"/>
          </a:p>
        </p:txBody>
      </p:sp>
      <p:sp>
        <p:nvSpPr>
          <p:cNvPr id="10" name="Text 8"/>
          <p:cNvSpPr/>
          <p:nvPr/>
        </p:nvSpPr>
        <p:spPr>
          <a:xfrm>
            <a:off x="6400800" y="2240280"/>
            <a:ext cx="5303520" cy="2926080"/>
          </a:xfrm>
          <a:prstGeom prst="rect">
            <a:avLst/>
          </a:prstGeom>
          <a:noFill/>
          <a:ln/>
        </p:spPr>
        <p:txBody>
          <a:bodyPr wrap="square" rtlCol="0" anchor="ctr"/>
          <a:lstStyle/>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Assistant has a name, description, and system instructions</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System instructions include at least one example of ideal output</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Three different test prompts produce outputs consistent with the style</a:t>
            </a:r>
            <a:endParaRPr lang="en-US" sz="1300" dirty="0"/>
          </a:p>
          <a:p>
            <a:pPr marL="342900" indent="-342900">
              <a:spcAft>
                <a:spcPts val="400"/>
              </a:spcAft>
              <a:buSzPct val="100000"/>
              <a:buChar char="●"/>
            </a:pPr>
            <a:r>
              <a:rPr lang="en-US" sz="1300" dirty="0">
                <a:solidFill>
                  <a:srgbClr val="1F1F1F"/>
                </a:solidFill>
                <a:latin typeface="Sora" pitchFamily="34" charset="0"/>
                <a:ea typeface="Sora" pitchFamily="34" charset="-122"/>
                <a:cs typeface="Sora" pitchFamily="34" charset="-120"/>
              </a:rPr>
              <a:t>A one-line description of what you'd change in v2</a:t>
            </a:r>
            <a:endParaRPr lang="en-US" sz="1300" dirty="0"/>
          </a:p>
        </p:txBody>
      </p:sp>
      <p:sp>
        <p:nvSpPr>
          <p:cNvPr id="11" name="Shape 9"/>
          <p:cNvSpPr/>
          <p:nvPr/>
        </p:nvSpPr>
        <p:spPr>
          <a:xfrm>
            <a:off x="640080" y="4617721"/>
            <a:ext cx="11064240" cy="1783079"/>
          </a:xfrm>
          <a:prstGeom prst="rect">
            <a:avLst/>
          </a:prstGeom>
          <a:solidFill>
            <a:srgbClr val="FFFFFF"/>
          </a:solidFill>
          <a:ln w="12700">
            <a:solidFill>
              <a:srgbClr val="F5A623"/>
            </a:solidFill>
            <a:prstDash val="solid"/>
          </a:ln>
        </p:spPr>
        <p:txBody>
          <a:bodyPr/>
          <a:lstStyle/>
          <a:p>
            <a:endParaRPr lang="en-US"/>
          </a:p>
        </p:txBody>
      </p:sp>
      <p:sp>
        <p:nvSpPr>
          <p:cNvPr id="12" name="Text 10"/>
          <p:cNvSpPr/>
          <p:nvPr/>
        </p:nvSpPr>
        <p:spPr>
          <a:xfrm>
            <a:off x="822960" y="4709160"/>
            <a:ext cx="4572000" cy="320040"/>
          </a:xfrm>
          <a:prstGeom prst="rect">
            <a:avLst/>
          </a:prstGeom>
          <a:noFill/>
          <a:ln/>
        </p:spPr>
        <p:txBody>
          <a:bodyPr wrap="square" rtlCol="0" anchor="ctr"/>
          <a:lstStyle/>
          <a:p>
            <a:pPr marL="0" indent="0">
              <a:buNone/>
            </a:pPr>
            <a:r>
              <a:rPr lang="en-US" sz="1100" b="1" kern="0" spc="600" dirty="0">
                <a:solidFill>
                  <a:srgbClr val="E07D0C"/>
                </a:solidFill>
                <a:latin typeface="Sora" pitchFamily="34" charset="0"/>
                <a:ea typeface="Sora" pitchFamily="34" charset="-122"/>
                <a:cs typeface="Sora" pitchFamily="34" charset="-120"/>
              </a:rPr>
              <a:t>Suggested steps</a:t>
            </a:r>
            <a:endParaRPr lang="en-US" sz="1100" dirty="0"/>
          </a:p>
        </p:txBody>
      </p:sp>
      <p:sp>
        <p:nvSpPr>
          <p:cNvPr id="13" name="Text 11"/>
          <p:cNvSpPr/>
          <p:nvPr/>
        </p:nvSpPr>
        <p:spPr>
          <a:xfrm>
            <a:off x="822960" y="4846320"/>
            <a:ext cx="10881360" cy="1508760"/>
          </a:xfrm>
          <a:prstGeom prst="rect">
            <a:avLst/>
          </a:prstGeom>
          <a:noFill/>
          <a:ln/>
        </p:spPr>
        <p:txBody>
          <a:bodyPr wrap="square" rtlCol="0" anchor="ctr"/>
          <a:lstStyle/>
          <a:p>
            <a:pPr marL="228600" indent="-228600">
              <a:buFont typeface="+mj-lt"/>
              <a:buAutoNum type="arabicPeriod"/>
            </a:pPr>
            <a:r>
              <a:rPr lang="en-US" sz="1100" dirty="0">
                <a:solidFill>
                  <a:srgbClr val="6B6B6B"/>
                </a:solidFill>
                <a:latin typeface="Sora" pitchFamily="34" charset="0"/>
                <a:ea typeface="Sora" pitchFamily="34" charset="-122"/>
                <a:cs typeface="Sora" pitchFamily="34" charset="-120"/>
              </a:rPr>
              <a:t>Open ChatGPT (Explore GPTs → Create) or Claude (New Project)</a:t>
            </a:r>
          </a:p>
          <a:p>
            <a:pPr marL="228600" indent="-228600">
              <a:buFont typeface="+mj-lt"/>
              <a:buAutoNum type="arabicPeriod"/>
            </a:pPr>
            <a:r>
              <a:rPr lang="en-US" sz="1100" dirty="0">
                <a:solidFill>
                  <a:srgbClr val="6B6B6B"/>
                </a:solidFill>
                <a:latin typeface="Sora" pitchFamily="34" charset="0"/>
                <a:ea typeface="Sora" pitchFamily="34" charset="-122"/>
                <a:cs typeface="Sora" pitchFamily="34" charset="-120"/>
              </a:rPr>
              <a:t>Decide the persona and write a short description</a:t>
            </a:r>
          </a:p>
          <a:p>
            <a:pPr marL="228600" indent="-228600">
              <a:buFont typeface="+mj-lt"/>
              <a:buAutoNum type="arabicPeriod"/>
            </a:pPr>
            <a:r>
              <a:rPr lang="en-US" sz="1100" dirty="0">
                <a:solidFill>
                  <a:srgbClr val="6B6B6B"/>
                </a:solidFill>
                <a:latin typeface="Sora" pitchFamily="34" charset="0"/>
                <a:ea typeface="Sora" pitchFamily="34" charset="-122"/>
                <a:cs typeface="Sora" pitchFamily="34" charset="-120"/>
              </a:rPr>
              <a:t>Write the system instructions (role, task, tone, constraints, example)</a:t>
            </a:r>
          </a:p>
          <a:p>
            <a:pPr marL="228600" indent="-228600">
              <a:buFont typeface="+mj-lt"/>
              <a:buAutoNum type="arabicPeriod"/>
            </a:pPr>
            <a:r>
              <a:rPr lang="en-US" sz="1100" dirty="0">
                <a:solidFill>
                  <a:srgbClr val="6B6B6B"/>
                </a:solidFill>
                <a:latin typeface="Sora" pitchFamily="34" charset="0"/>
                <a:ea typeface="Sora" pitchFamily="34" charset="-122"/>
                <a:cs typeface="Sora" pitchFamily="34" charset="-120"/>
              </a:rPr>
              <a:t>Run three different test prompts </a:t>
            </a:r>
          </a:p>
          <a:p>
            <a:pPr marL="228600" indent="-228600">
              <a:buFont typeface="+mj-lt"/>
              <a:buAutoNum type="arabicPeriod"/>
            </a:pPr>
            <a:r>
              <a:rPr lang="en-US" sz="1100" dirty="0">
                <a:solidFill>
                  <a:srgbClr val="6B6B6B"/>
                </a:solidFill>
                <a:latin typeface="Sora" pitchFamily="34" charset="0"/>
                <a:ea typeface="Sora" pitchFamily="34" charset="-122"/>
                <a:cs typeface="Sora" pitchFamily="34" charset="-120"/>
              </a:rPr>
              <a:t>Note one improvement for v2</a:t>
            </a:r>
            <a:endParaRPr lang="en-US" sz="1100" dirty="0"/>
          </a:p>
        </p:txBody>
      </p:sp>
      <p:pic>
        <p:nvPicPr>
          <p:cNvPr id="14"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48640"/>
            <a:ext cx="731520" cy="54864"/>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685800"/>
            <a:ext cx="10972800" cy="640080"/>
          </a:xfrm>
          <a:prstGeom prst="rect">
            <a:avLst/>
          </a:prstGeom>
          <a:noFill/>
          <a:ln/>
        </p:spPr>
        <p:txBody>
          <a:bodyPr wrap="square" rtlCol="0" anchor="ctr"/>
          <a:lstStyle/>
          <a:p>
            <a:pPr marL="0" indent="0">
              <a:buNone/>
            </a:pPr>
            <a:r>
              <a:rPr lang="en-US" sz="3400" b="1" dirty="0">
                <a:solidFill>
                  <a:srgbClr val="1F1F1F"/>
                </a:solidFill>
                <a:latin typeface="Sora" pitchFamily="34" charset="0"/>
                <a:ea typeface="Sora" pitchFamily="34" charset="-122"/>
                <a:cs typeface="Sora" pitchFamily="34" charset="-120"/>
              </a:rPr>
              <a:t>Recap — what we covered</a:t>
            </a:r>
            <a:endParaRPr lang="en-US" sz="3400" dirty="0"/>
          </a:p>
        </p:txBody>
      </p:sp>
      <p:sp>
        <p:nvSpPr>
          <p:cNvPr id="4" name="Text 2"/>
          <p:cNvSpPr/>
          <p:nvPr/>
        </p:nvSpPr>
        <p:spPr>
          <a:xfrm>
            <a:off x="457200" y="1554480"/>
            <a:ext cx="10972800" cy="457200"/>
          </a:xfrm>
          <a:prstGeom prst="rect">
            <a:avLst/>
          </a:prstGeom>
          <a:noFill/>
          <a:ln/>
        </p:spPr>
        <p:txBody>
          <a:bodyPr wrap="square" rtlCol="0" anchor="ctr"/>
          <a:lstStyle/>
          <a:p>
            <a:pPr marL="0" indent="0">
              <a:buNone/>
            </a:pPr>
            <a:r>
              <a:rPr lang="en-US" sz="1600" i="1" dirty="0">
                <a:solidFill>
                  <a:srgbClr val="6B6B6B"/>
                </a:solidFill>
                <a:latin typeface="Sora" pitchFamily="34" charset="0"/>
                <a:ea typeface="Sora" pitchFamily="34" charset="-122"/>
                <a:cs typeface="Sora" pitchFamily="34" charset="-120"/>
              </a:rPr>
              <a:t>Three blocks, three exercises, one skill stack you can use on Monday.</a:t>
            </a:r>
            <a:endParaRPr lang="en-US" sz="1600" dirty="0"/>
          </a:p>
        </p:txBody>
      </p:sp>
      <p:sp>
        <p:nvSpPr>
          <p:cNvPr id="5" name="Shape 3"/>
          <p:cNvSpPr/>
          <p:nvPr/>
        </p:nvSpPr>
        <p:spPr>
          <a:xfrm>
            <a:off x="457200" y="2377440"/>
            <a:ext cx="3611880" cy="3657600"/>
          </a:xfrm>
          <a:prstGeom prst="roundRect">
            <a:avLst>
              <a:gd name="adj" fmla="val 3038"/>
            </a:avLst>
          </a:prstGeom>
          <a:solidFill>
            <a:srgbClr val="FFFFFF"/>
          </a:solidFill>
          <a:ln w="15240">
            <a:solidFill>
              <a:srgbClr val="F5A623"/>
            </a:solidFill>
            <a:prstDash val="solid"/>
          </a:ln>
        </p:spPr>
        <p:txBody>
          <a:bodyPr/>
          <a:lstStyle/>
          <a:p>
            <a:endParaRPr lang="en-US"/>
          </a:p>
        </p:txBody>
      </p:sp>
      <p:sp>
        <p:nvSpPr>
          <p:cNvPr id="6" name="Shape 4"/>
          <p:cNvSpPr/>
          <p:nvPr/>
        </p:nvSpPr>
        <p:spPr>
          <a:xfrm>
            <a:off x="457200" y="2377440"/>
            <a:ext cx="3611880" cy="457200"/>
          </a:xfrm>
          <a:prstGeom prst="rect">
            <a:avLst/>
          </a:prstGeom>
          <a:solidFill>
            <a:srgbClr val="F5A623"/>
          </a:solidFill>
          <a:ln w="12700">
            <a:solidFill>
              <a:srgbClr val="F5A623"/>
            </a:solidFill>
            <a:prstDash val="solid"/>
          </a:ln>
        </p:spPr>
        <p:txBody>
          <a:bodyPr/>
          <a:lstStyle/>
          <a:p>
            <a:endParaRPr lang="en-US"/>
          </a:p>
        </p:txBody>
      </p:sp>
      <p:sp>
        <p:nvSpPr>
          <p:cNvPr id="7" name="Text 5"/>
          <p:cNvSpPr/>
          <p:nvPr/>
        </p:nvSpPr>
        <p:spPr>
          <a:xfrm>
            <a:off x="457200" y="2377440"/>
            <a:ext cx="3611880" cy="457200"/>
          </a:xfrm>
          <a:prstGeom prst="rect">
            <a:avLst/>
          </a:prstGeom>
          <a:noFill/>
          <a:ln/>
        </p:spPr>
        <p:txBody>
          <a:bodyPr wrap="square" rtlCol="0" anchor="ctr"/>
          <a:lstStyle/>
          <a:p>
            <a:pPr marL="0" indent="0" algn="ctr">
              <a:buNone/>
            </a:pPr>
            <a:r>
              <a:rPr lang="en-US" sz="1200" b="1" kern="0" spc="800" dirty="0">
                <a:solidFill>
                  <a:srgbClr val="1F1F1F"/>
                </a:solidFill>
                <a:latin typeface="Sora" pitchFamily="34" charset="0"/>
                <a:ea typeface="Sora" pitchFamily="34" charset="-122"/>
                <a:cs typeface="Sora" pitchFamily="34" charset="-120"/>
              </a:rPr>
              <a:t>TUITION 1</a:t>
            </a:r>
            <a:endParaRPr lang="en-US" sz="1200" dirty="0"/>
          </a:p>
        </p:txBody>
      </p:sp>
      <p:sp>
        <p:nvSpPr>
          <p:cNvPr id="8" name="Text 6"/>
          <p:cNvSpPr/>
          <p:nvPr/>
        </p:nvSpPr>
        <p:spPr>
          <a:xfrm>
            <a:off x="731520" y="3063240"/>
            <a:ext cx="3063240" cy="731520"/>
          </a:xfrm>
          <a:prstGeom prst="rect">
            <a:avLst/>
          </a:prstGeom>
          <a:noFill/>
          <a:ln/>
        </p:spPr>
        <p:txBody>
          <a:bodyPr wrap="square" rtlCol="0" anchor="ctr"/>
          <a:lstStyle/>
          <a:p>
            <a:pPr marL="0" indent="0">
              <a:buNone/>
            </a:pPr>
            <a:r>
              <a:rPr lang="en-US" sz="2000" b="1" dirty="0">
                <a:solidFill>
                  <a:srgbClr val="1F1F1F"/>
                </a:solidFill>
                <a:latin typeface="Sora" pitchFamily="34" charset="0"/>
                <a:ea typeface="Sora" pitchFamily="34" charset="-122"/>
                <a:cs typeface="Sora" pitchFamily="34" charset="-120"/>
              </a:rPr>
              <a:t>Types of AI</a:t>
            </a:r>
            <a:endParaRPr lang="en-US" sz="2000" dirty="0"/>
          </a:p>
        </p:txBody>
      </p:sp>
      <p:sp>
        <p:nvSpPr>
          <p:cNvPr id="9" name="Text 7"/>
          <p:cNvSpPr/>
          <p:nvPr/>
        </p:nvSpPr>
        <p:spPr>
          <a:xfrm>
            <a:off x="731520" y="3931920"/>
            <a:ext cx="3063240" cy="1920240"/>
          </a:xfrm>
          <a:prstGeom prst="rect">
            <a:avLst/>
          </a:prstGeom>
          <a:noFill/>
          <a:ln/>
        </p:spPr>
        <p:txBody>
          <a:bodyPr wrap="square" rtlCol="0" anchor="ctr"/>
          <a:lstStyle/>
          <a:p>
            <a:pPr marL="0" indent="0">
              <a:spcAft>
                <a:spcPts val="600"/>
              </a:spcAft>
              <a:buNone/>
            </a:pPr>
            <a:r>
              <a:rPr lang="en-US" sz="1200" dirty="0">
                <a:solidFill>
                  <a:srgbClr val="6B6B6B"/>
                </a:solidFill>
                <a:latin typeface="Sora" pitchFamily="34" charset="0"/>
                <a:ea typeface="Sora" pitchFamily="34" charset="-122"/>
                <a:cs typeface="Sora" pitchFamily="34" charset="-120"/>
              </a:rPr>
              <a:t>1. What we mean by 'AI'</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2. The main categories you'll meet</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3. Picking the right tool for the job</a:t>
            </a:r>
            <a:endParaRPr lang="en-US" sz="1200" dirty="0"/>
          </a:p>
        </p:txBody>
      </p:sp>
      <p:sp>
        <p:nvSpPr>
          <p:cNvPr id="10" name="Shape 8"/>
          <p:cNvSpPr/>
          <p:nvPr/>
        </p:nvSpPr>
        <p:spPr>
          <a:xfrm>
            <a:off x="4315968" y="2377440"/>
            <a:ext cx="3611880" cy="3657600"/>
          </a:xfrm>
          <a:prstGeom prst="roundRect">
            <a:avLst>
              <a:gd name="adj" fmla="val 3038"/>
            </a:avLst>
          </a:prstGeom>
          <a:solidFill>
            <a:srgbClr val="FFFFFF"/>
          </a:solidFill>
          <a:ln w="15240">
            <a:solidFill>
              <a:srgbClr val="F5A623"/>
            </a:solidFill>
            <a:prstDash val="solid"/>
          </a:ln>
        </p:spPr>
        <p:txBody>
          <a:bodyPr/>
          <a:lstStyle/>
          <a:p>
            <a:endParaRPr lang="en-US"/>
          </a:p>
        </p:txBody>
      </p:sp>
      <p:sp>
        <p:nvSpPr>
          <p:cNvPr id="11" name="Shape 9"/>
          <p:cNvSpPr/>
          <p:nvPr/>
        </p:nvSpPr>
        <p:spPr>
          <a:xfrm>
            <a:off x="4315968" y="2377440"/>
            <a:ext cx="3611880" cy="457200"/>
          </a:xfrm>
          <a:prstGeom prst="rect">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4315968" y="2377440"/>
            <a:ext cx="3611880" cy="457200"/>
          </a:xfrm>
          <a:prstGeom prst="rect">
            <a:avLst/>
          </a:prstGeom>
          <a:noFill/>
          <a:ln/>
        </p:spPr>
        <p:txBody>
          <a:bodyPr wrap="square" rtlCol="0" anchor="ctr"/>
          <a:lstStyle/>
          <a:p>
            <a:pPr marL="0" indent="0" algn="ctr">
              <a:buNone/>
            </a:pPr>
            <a:r>
              <a:rPr lang="en-US" sz="1200" b="1" kern="0" spc="800" dirty="0">
                <a:solidFill>
                  <a:srgbClr val="1F1F1F"/>
                </a:solidFill>
                <a:latin typeface="Sora" pitchFamily="34" charset="0"/>
                <a:ea typeface="Sora" pitchFamily="34" charset="-122"/>
                <a:cs typeface="Sora" pitchFamily="34" charset="-120"/>
              </a:rPr>
              <a:t>TUITION 2</a:t>
            </a:r>
            <a:endParaRPr lang="en-US" sz="1200" dirty="0"/>
          </a:p>
        </p:txBody>
      </p:sp>
      <p:sp>
        <p:nvSpPr>
          <p:cNvPr id="13" name="Text 11"/>
          <p:cNvSpPr/>
          <p:nvPr/>
        </p:nvSpPr>
        <p:spPr>
          <a:xfrm>
            <a:off x="4590288" y="3063240"/>
            <a:ext cx="3063240" cy="731520"/>
          </a:xfrm>
          <a:prstGeom prst="rect">
            <a:avLst/>
          </a:prstGeom>
          <a:noFill/>
          <a:ln/>
        </p:spPr>
        <p:txBody>
          <a:bodyPr wrap="square" rtlCol="0" anchor="ctr"/>
          <a:lstStyle/>
          <a:p>
            <a:pPr marL="0" indent="0">
              <a:buNone/>
            </a:pPr>
            <a:r>
              <a:rPr lang="en-US" sz="2000" b="1" dirty="0">
                <a:solidFill>
                  <a:srgbClr val="1F1F1F"/>
                </a:solidFill>
                <a:latin typeface="Sora" pitchFamily="34" charset="0"/>
                <a:ea typeface="Sora" pitchFamily="34" charset="-122"/>
                <a:cs typeface="Sora" pitchFamily="34" charset="-120"/>
              </a:rPr>
              <a:t>Creating Prompts</a:t>
            </a:r>
            <a:endParaRPr lang="en-US" sz="2000" dirty="0"/>
          </a:p>
        </p:txBody>
      </p:sp>
      <p:sp>
        <p:nvSpPr>
          <p:cNvPr id="14" name="Text 12"/>
          <p:cNvSpPr/>
          <p:nvPr/>
        </p:nvSpPr>
        <p:spPr>
          <a:xfrm>
            <a:off x="4590288" y="3931920"/>
            <a:ext cx="3063240" cy="1920240"/>
          </a:xfrm>
          <a:prstGeom prst="rect">
            <a:avLst/>
          </a:prstGeom>
          <a:noFill/>
          <a:ln/>
        </p:spPr>
        <p:txBody>
          <a:bodyPr wrap="square" rtlCol="0" anchor="ctr"/>
          <a:lstStyle/>
          <a:p>
            <a:pPr marL="0" indent="0">
              <a:spcAft>
                <a:spcPts val="600"/>
              </a:spcAft>
              <a:buNone/>
            </a:pPr>
            <a:r>
              <a:rPr lang="en-US" sz="1200" dirty="0">
                <a:solidFill>
                  <a:srgbClr val="6B6B6B"/>
                </a:solidFill>
                <a:latin typeface="Sora" pitchFamily="34" charset="0"/>
                <a:ea typeface="Sora" pitchFamily="34" charset="-122"/>
                <a:cs typeface="Sora" pitchFamily="34" charset="-120"/>
              </a:rPr>
              <a:t>1. Why prompts matter</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2. The R-T-C-F-C framework</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3. Prompt patterns worth knowing</a:t>
            </a:r>
            <a:endParaRPr lang="en-US" sz="1200" dirty="0"/>
          </a:p>
        </p:txBody>
      </p:sp>
      <p:sp>
        <p:nvSpPr>
          <p:cNvPr id="15" name="Shape 13"/>
          <p:cNvSpPr/>
          <p:nvPr/>
        </p:nvSpPr>
        <p:spPr>
          <a:xfrm>
            <a:off x="8174736" y="2377440"/>
            <a:ext cx="3611880" cy="3657600"/>
          </a:xfrm>
          <a:prstGeom prst="roundRect">
            <a:avLst>
              <a:gd name="adj" fmla="val 3038"/>
            </a:avLst>
          </a:prstGeom>
          <a:solidFill>
            <a:srgbClr val="FFFFFF"/>
          </a:solidFill>
          <a:ln w="15240">
            <a:solidFill>
              <a:srgbClr val="F5A623"/>
            </a:solidFill>
            <a:prstDash val="solid"/>
          </a:ln>
        </p:spPr>
        <p:txBody>
          <a:bodyPr/>
          <a:lstStyle/>
          <a:p>
            <a:endParaRPr lang="en-US"/>
          </a:p>
        </p:txBody>
      </p:sp>
      <p:sp>
        <p:nvSpPr>
          <p:cNvPr id="16" name="Shape 14"/>
          <p:cNvSpPr/>
          <p:nvPr/>
        </p:nvSpPr>
        <p:spPr>
          <a:xfrm>
            <a:off x="8174736" y="2377440"/>
            <a:ext cx="3611880" cy="457200"/>
          </a:xfrm>
          <a:prstGeom prst="rect">
            <a:avLst/>
          </a:prstGeom>
          <a:solidFill>
            <a:srgbClr val="F5A623"/>
          </a:solidFill>
          <a:ln w="12700">
            <a:solidFill>
              <a:srgbClr val="F5A623"/>
            </a:solidFill>
            <a:prstDash val="solid"/>
          </a:ln>
        </p:spPr>
        <p:txBody>
          <a:bodyPr/>
          <a:lstStyle/>
          <a:p>
            <a:endParaRPr lang="en-US"/>
          </a:p>
        </p:txBody>
      </p:sp>
      <p:sp>
        <p:nvSpPr>
          <p:cNvPr id="17" name="Text 15"/>
          <p:cNvSpPr/>
          <p:nvPr/>
        </p:nvSpPr>
        <p:spPr>
          <a:xfrm>
            <a:off x="8174736" y="2377440"/>
            <a:ext cx="3611880" cy="457200"/>
          </a:xfrm>
          <a:prstGeom prst="rect">
            <a:avLst/>
          </a:prstGeom>
          <a:noFill/>
          <a:ln/>
        </p:spPr>
        <p:txBody>
          <a:bodyPr wrap="square" rtlCol="0" anchor="ctr"/>
          <a:lstStyle/>
          <a:p>
            <a:pPr marL="0" indent="0" algn="ctr">
              <a:buNone/>
            </a:pPr>
            <a:r>
              <a:rPr lang="en-US" sz="1200" b="1" kern="0" spc="800" dirty="0">
                <a:solidFill>
                  <a:srgbClr val="1F1F1F"/>
                </a:solidFill>
                <a:latin typeface="Sora" pitchFamily="34" charset="0"/>
                <a:ea typeface="Sora" pitchFamily="34" charset="-122"/>
                <a:cs typeface="Sora" pitchFamily="34" charset="-120"/>
              </a:rPr>
              <a:t>TUITION 3</a:t>
            </a:r>
            <a:endParaRPr lang="en-US" sz="1200" dirty="0"/>
          </a:p>
        </p:txBody>
      </p:sp>
      <p:sp>
        <p:nvSpPr>
          <p:cNvPr id="18" name="Text 16"/>
          <p:cNvSpPr/>
          <p:nvPr/>
        </p:nvSpPr>
        <p:spPr>
          <a:xfrm>
            <a:off x="8449056" y="3063240"/>
            <a:ext cx="3063240" cy="731520"/>
          </a:xfrm>
          <a:prstGeom prst="rect">
            <a:avLst/>
          </a:prstGeom>
          <a:noFill/>
          <a:ln/>
        </p:spPr>
        <p:txBody>
          <a:bodyPr wrap="square" rtlCol="0" anchor="ctr"/>
          <a:lstStyle/>
          <a:p>
            <a:pPr marL="0" indent="0">
              <a:buNone/>
            </a:pPr>
            <a:r>
              <a:rPr lang="en-US" sz="2000" b="1" dirty="0">
                <a:solidFill>
                  <a:srgbClr val="1F1F1F"/>
                </a:solidFill>
                <a:latin typeface="Sora" pitchFamily="34" charset="0"/>
                <a:ea typeface="Sora" pitchFamily="34" charset="-122"/>
                <a:cs typeface="Sora" pitchFamily="34" charset="-120"/>
              </a:rPr>
              <a:t>Custom GPTs &amp; Claude Projects</a:t>
            </a:r>
            <a:endParaRPr lang="en-US" sz="2000" dirty="0"/>
          </a:p>
        </p:txBody>
      </p:sp>
      <p:sp>
        <p:nvSpPr>
          <p:cNvPr id="19" name="Text 17"/>
          <p:cNvSpPr/>
          <p:nvPr/>
        </p:nvSpPr>
        <p:spPr>
          <a:xfrm>
            <a:off x="8449056" y="3931920"/>
            <a:ext cx="3063240" cy="1920240"/>
          </a:xfrm>
          <a:prstGeom prst="rect">
            <a:avLst/>
          </a:prstGeom>
          <a:noFill/>
          <a:ln/>
        </p:spPr>
        <p:txBody>
          <a:bodyPr wrap="square" rtlCol="0" anchor="ctr"/>
          <a:lstStyle/>
          <a:p>
            <a:pPr marL="0" indent="0">
              <a:spcAft>
                <a:spcPts val="600"/>
              </a:spcAft>
              <a:buNone/>
            </a:pPr>
            <a:r>
              <a:rPr lang="en-US" sz="1200" dirty="0">
                <a:solidFill>
                  <a:srgbClr val="6B6B6B"/>
                </a:solidFill>
                <a:latin typeface="Sora" pitchFamily="34" charset="0"/>
                <a:ea typeface="Sora" pitchFamily="34" charset="-122"/>
                <a:cs typeface="Sora" pitchFamily="34" charset="-120"/>
              </a:rPr>
              <a:t>1. What is a Custom GPT / Claude Project?</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2. The four ingredients</a:t>
            </a:r>
            <a:endParaRPr lang="en-US" sz="1200" dirty="0"/>
          </a:p>
          <a:p>
            <a:pPr marL="0" indent="0">
              <a:spcAft>
                <a:spcPts val="600"/>
              </a:spcAft>
              <a:buNone/>
            </a:pPr>
            <a:r>
              <a:rPr lang="en-US" sz="1200" dirty="0">
                <a:solidFill>
                  <a:srgbClr val="6B6B6B"/>
                </a:solidFill>
                <a:latin typeface="Sora" pitchFamily="34" charset="0"/>
                <a:ea typeface="Sora" pitchFamily="34" charset="-122"/>
                <a:cs typeface="Sora" pitchFamily="34" charset="-120"/>
              </a:rPr>
              <a:t>3. Claude Projects — the equivalent</a:t>
            </a:r>
            <a:endParaRPr lang="en-US" sz="1200" dirty="0"/>
          </a:p>
        </p:txBody>
      </p:sp>
      <p:pic>
        <p:nvPicPr>
          <p:cNvPr id="20"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21" name="Text 18"/>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Recap</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640080"/>
            <a:ext cx="10972800" cy="457200"/>
          </a:xfrm>
          <a:prstGeom prst="rect">
            <a:avLst/>
          </a:prstGeom>
          <a:noFill/>
          <a:ln/>
        </p:spPr>
        <p:txBody>
          <a:bodyPr wrap="square" rtlCol="0" anchor="ctr"/>
          <a:lstStyle/>
          <a:p>
            <a:pPr marL="0" indent="0">
              <a:buNone/>
            </a:pPr>
            <a:r>
              <a:rPr lang="en-US" sz="1400" b="1" kern="0" spc="1200" dirty="0">
                <a:solidFill>
                  <a:srgbClr val="F5A623"/>
                </a:solidFill>
                <a:latin typeface="Sora" pitchFamily="34" charset="0"/>
                <a:ea typeface="Sora" pitchFamily="34" charset="-122"/>
                <a:cs typeface="Sora" pitchFamily="34" charset="-120"/>
              </a:rPr>
              <a:t>FINAL CHALLENGE</a:t>
            </a:r>
            <a:endParaRPr lang="en-US" sz="1400" dirty="0"/>
          </a:p>
        </p:txBody>
      </p:sp>
      <p:sp>
        <p:nvSpPr>
          <p:cNvPr id="3" name="Text 1"/>
          <p:cNvSpPr/>
          <p:nvPr/>
        </p:nvSpPr>
        <p:spPr>
          <a:xfrm>
            <a:off x="457200" y="1143000"/>
            <a:ext cx="10972800" cy="2194560"/>
          </a:xfrm>
          <a:prstGeom prst="rect">
            <a:avLst/>
          </a:prstGeom>
          <a:noFill/>
          <a:ln/>
        </p:spPr>
        <p:txBody>
          <a:bodyPr wrap="square" rtlCol="0" anchor="t"/>
          <a:lstStyle/>
          <a:p>
            <a:pPr marL="0" indent="0">
              <a:buNone/>
            </a:pPr>
            <a:r>
              <a:rPr lang="en-US" sz="5400" b="1" dirty="0">
                <a:latin typeface="Sora" pitchFamily="34" charset="0"/>
                <a:ea typeface="Sora" pitchFamily="34" charset="-122"/>
                <a:cs typeface="Sora" pitchFamily="34" charset="-120"/>
              </a:rPr>
              <a:t>Email marketing campaign generator</a:t>
            </a:r>
            <a:endParaRPr lang="en-US" sz="5400" dirty="0"/>
          </a:p>
        </p:txBody>
      </p:sp>
      <p:sp>
        <p:nvSpPr>
          <p:cNvPr id="4" name="Shape 2"/>
          <p:cNvSpPr/>
          <p:nvPr/>
        </p:nvSpPr>
        <p:spPr>
          <a:xfrm>
            <a:off x="457200" y="3566160"/>
            <a:ext cx="73152" cy="1645920"/>
          </a:xfrm>
          <a:prstGeom prst="rect">
            <a:avLst/>
          </a:prstGeom>
          <a:solidFill>
            <a:srgbClr val="F5A623"/>
          </a:solidFill>
          <a:ln w="12700">
            <a:solidFill>
              <a:srgbClr val="F5A623"/>
            </a:solidFill>
            <a:prstDash val="solid"/>
          </a:ln>
        </p:spPr>
        <p:txBody>
          <a:bodyPr/>
          <a:lstStyle/>
          <a:p>
            <a:endParaRPr lang="en-US"/>
          </a:p>
        </p:txBody>
      </p:sp>
      <p:sp>
        <p:nvSpPr>
          <p:cNvPr id="5" name="Text 3"/>
          <p:cNvSpPr/>
          <p:nvPr/>
        </p:nvSpPr>
        <p:spPr>
          <a:xfrm>
            <a:off x="777240" y="3566160"/>
            <a:ext cx="10972800" cy="1828800"/>
          </a:xfrm>
          <a:prstGeom prst="rect">
            <a:avLst/>
          </a:prstGeom>
          <a:noFill/>
          <a:ln/>
        </p:spPr>
        <p:txBody>
          <a:bodyPr wrap="square" rtlCol="0" anchor="ctr"/>
          <a:lstStyle/>
          <a:p>
            <a:pPr marL="0" indent="0">
              <a:buNone/>
            </a:pPr>
            <a:r>
              <a:rPr lang="en-US" sz="1800" dirty="0">
                <a:solidFill>
                  <a:srgbClr val="FFD18A"/>
                </a:solidFill>
                <a:latin typeface="Sora" pitchFamily="34" charset="0"/>
                <a:ea typeface="Sora" pitchFamily="34" charset="-122"/>
                <a:cs typeface="Sora" pitchFamily="34" charset="-120"/>
              </a:rPr>
              <a:t>A small business client wants an AI assistant that can draft email marketing campaigns on demand. Given a product and an audience, it should return a subject line, preview text, email body, and a clear call-to-action — in their brand tone.</a:t>
            </a:r>
            <a:endParaRPr lang="en-US" sz="1800" dirty="0"/>
          </a:p>
        </p:txBody>
      </p:sp>
      <p:sp>
        <p:nvSpPr>
          <p:cNvPr id="6" name="Text 4"/>
          <p:cNvSpPr/>
          <p:nvPr/>
        </p:nvSpPr>
        <p:spPr>
          <a:xfrm>
            <a:off x="457200" y="6126480"/>
            <a:ext cx="10972800" cy="365760"/>
          </a:xfrm>
          <a:prstGeom prst="rect">
            <a:avLst/>
          </a:prstGeom>
          <a:noFill/>
          <a:ln/>
        </p:spPr>
        <p:txBody>
          <a:bodyPr wrap="square" rtlCol="0" anchor="ctr"/>
          <a:lstStyle/>
          <a:p>
            <a:pPr marL="0" indent="0">
              <a:buNone/>
            </a:pPr>
            <a:r>
              <a:rPr lang="en-US" sz="1300" i="1" dirty="0">
                <a:solidFill>
                  <a:srgbClr val="6B6B6B"/>
                </a:solidFill>
                <a:latin typeface="Sora" pitchFamily="34" charset="0"/>
                <a:ea typeface="Sora" pitchFamily="34" charset="-122"/>
                <a:cs typeface="Sora" pitchFamily="34" charset="-120"/>
              </a:rPr>
              <a:t>25 minutes  ·  pairs or individual  ·  share back at the end</a:t>
            </a:r>
            <a:endParaRPr lang="en-US" sz="1300" dirty="0"/>
          </a:p>
        </p:txBody>
      </p:sp>
      <p:pic>
        <p:nvPicPr>
          <p:cNvPr id="8" name="Picture 7">
            <a:extLst>
              <a:ext uri="{FF2B5EF4-FFF2-40B4-BE49-F238E27FC236}">
                <a16:creationId xmlns:a16="http://schemas.microsoft.com/office/drawing/2014/main" id="{E354FE9A-D7FD-8FDC-7ED2-554834A9F75A}"/>
              </a:ext>
            </a:extLst>
          </p:cNvPr>
          <p:cNvPicPr>
            <a:picLocks noChangeAspect="1"/>
          </p:cNvPicPr>
          <p:nvPr/>
        </p:nvPicPr>
        <p:blipFill>
          <a:blip r:embed="rId3"/>
          <a:stretch>
            <a:fillRect/>
          </a:stretch>
        </p:blipFill>
        <p:spPr>
          <a:xfrm>
            <a:off x="9849223" y="0"/>
            <a:ext cx="2342777" cy="13178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17" name="Image 0" descr="/sessions/determined-blissful-franklin/mnt/CourseCreator/assets/logo.jpeg"/>
          <p:cNvPicPr>
            <a:picLocks noChangeAspect="1"/>
          </p:cNvPicPr>
          <p:nvPr/>
        </p:nvPicPr>
        <p:blipFill>
          <a:blip r:embed="rId3"/>
          <a:stretch>
            <a:fillRect/>
          </a:stretch>
        </p:blipFill>
        <p:spPr>
          <a:xfrm>
            <a:off x="10957255" y="6172200"/>
            <a:ext cx="1051560" cy="594360"/>
          </a:xfrm>
          <a:prstGeom prst="rect">
            <a:avLst/>
          </a:prstGeom>
        </p:spPr>
      </p:pic>
      <p:sp>
        <p:nvSpPr>
          <p:cNvPr id="2" name="Shape 0"/>
          <p:cNvSpPr/>
          <p:nvPr/>
        </p:nvSpPr>
        <p:spPr>
          <a:xfrm>
            <a:off x="457200" y="548640"/>
            <a:ext cx="731520" cy="54864"/>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457200" y="685800"/>
            <a:ext cx="10972800" cy="640080"/>
          </a:xfrm>
          <a:prstGeom prst="rect">
            <a:avLst/>
          </a:prstGeom>
          <a:noFill/>
          <a:ln/>
        </p:spPr>
        <p:txBody>
          <a:bodyPr wrap="square" rtlCol="0" anchor="ctr"/>
          <a:lstStyle/>
          <a:p>
            <a:pPr marL="0" indent="0">
              <a:buNone/>
            </a:pPr>
            <a:r>
              <a:rPr lang="en-US" sz="3000" b="1" dirty="0">
                <a:solidFill>
                  <a:srgbClr val="1F1F1F"/>
                </a:solidFill>
                <a:latin typeface="Sora" pitchFamily="34" charset="0"/>
                <a:ea typeface="Sora" pitchFamily="34" charset="-122"/>
                <a:cs typeface="Sora" pitchFamily="34" charset="-120"/>
              </a:rPr>
              <a:t>Challenge — what 'done' looks like</a:t>
            </a:r>
            <a:endParaRPr lang="en-US" sz="3000" dirty="0"/>
          </a:p>
        </p:txBody>
      </p:sp>
      <p:sp>
        <p:nvSpPr>
          <p:cNvPr id="4" name="Text 2"/>
          <p:cNvSpPr/>
          <p:nvPr/>
        </p:nvSpPr>
        <p:spPr>
          <a:xfrm>
            <a:off x="457200" y="1645920"/>
            <a:ext cx="5486400" cy="320040"/>
          </a:xfrm>
          <a:prstGeom prst="rect">
            <a:avLst/>
          </a:prstGeom>
          <a:noFill/>
          <a:ln/>
        </p:spPr>
        <p:txBody>
          <a:bodyPr wrap="square" rtlCol="0" anchor="ctr"/>
          <a:lstStyle/>
          <a:p>
            <a:pPr marL="0" indent="0">
              <a:buNone/>
            </a:pPr>
            <a:r>
              <a:rPr lang="en-US" sz="1100" b="1" kern="0" spc="800" dirty="0">
                <a:solidFill>
                  <a:srgbClr val="E07D0C"/>
                </a:solidFill>
                <a:latin typeface="Sora" pitchFamily="34" charset="0"/>
                <a:ea typeface="Sora" pitchFamily="34" charset="-122"/>
                <a:cs typeface="Sora" pitchFamily="34" charset="-120"/>
              </a:rPr>
              <a:t>WHAT YOU NEED TO DELIVER</a:t>
            </a:r>
            <a:endParaRPr lang="en-US" sz="1100" dirty="0"/>
          </a:p>
        </p:txBody>
      </p:sp>
      <p:sp>
        <p:nvSpPr>
          <p:cNvPr id="5" name="Text 3"/>
          <p:cNvSpPr/>
          <p:nvPr/>
        </p:nvSpPr>
        <p:spPr>
          <a:xfrm>
            <a:off x="457200" y="2011680"/>
            <a:ext cx="5577840" cy="2926080"/>
          </a:xfrm>
          <a:prstGeom prst="rect">
            <a:avLst/>
          </a:prstGeom>
          <a:noFill/>
          <a:ln/>
        </p:spPr>
        <p:txBody>
          <a:bodyPr wrap="square" rtlCol="0" anchor="ctr"/>
          <a:lstStyle/>
          <a:p>
            <a:pPr marL="342900" indent="-342900">
              <a:spcAft>
                <a:spcPts val="600"/>
              </a:spcAft>
              <a:buSzPct val="100000"/>
              <a:buChar char="●"/>
            </a:pPr>
            <a:r>
              <a:rPr lang="en-US" sz="1400" dirty="0">
                <a:solidFill>
                  <a:srgbClr val="1F1F1F"/>
                </a:solidFill>
                <a:latin typeface="Sora" pitchFamily="34" charset="0"/>
                <a:ea typeface="Sora" pitchFamily="34" charset="-122"/>
                <a:cs typeface="Sora" pitchFamily="34" charset="-120"/>
              </a:rPr>
              <a:t>Pick the right AI tool(s) for the job (and be able to justify the choice)</a:t>
            </a:r>
            <a:endParaRPr lang="en-US" sz="1400" dirty="0"/>
          </a:p>
          <a:p>
            <a:pPr marL="342900" indent="-342900">
              <a:spcAft>
                <a:spcPts val="600"/>
              </a:spcAft>
              <a:buSzPct val="100000"/>
              <a:buChar char="●"/>
            </a:pPr>
            <a:r>
              <a:rPr lang="en-US" sz="1400" dirty="0">
                <a:solidFill>
                  <a:srgbClr val="1F1F1F"/>
                </a:solidFill>
                <a:latin typeface="Sora" pitchFamily="34" charset="0"/>
                <a:ea typeface="Sora" pitchFamily="34" charset="-122"/>
                <a:cs typeface="Sora" pitchFamily="34" charset="-120"/>
              </a:rPr>
              <a:t>Build a Custom GPT or Claude Project that takes product + audience + desired tone as inputs</a:t>
            </a:r>
            <a:endParaRPr lang="en-US" sz="1400" dirty="0"/>
          </a:p>
          <a:p>
            <a:pPr marL="342900" indent="-342900">
              <a:spcAft>
                <a:spcPts val="600"/>
              </a:spcAft>
              <a:buSzPct val="100000"/>
              <a:buChar char="●"/>
            </a:pPr>
            <a:r>
              <a:rPr lang="en-US" sz="1400" dirty="0">
                <a:solidFill>
                  <a:srgbClr val="1F1F1F"/>
                </a:solidFill>
                <a:latin typeface="Sora" pitchFamily="34" charset="0"/>
                <a:ea typeface="Sora" pitchFamily="34" charset="-122"/>
                <a:cs typeface="Sora" pitchFamily="34" charset="-120"/>
              </a:rPr>
              <a:t>Use what you learned about prompting to write the system instructions</a:t>
            </a:r>
            <a:endParaRPr lang="en-US" sz="1400" dirty="0"/>
          </a:p>
          <a:p>
            <a:pPr marL="342900" indent="-342900">
              <a:spcAft>
                <a:spcPts val="600"/>
              </a:spcAft>
              <a:buSzPct val="100000"/>
              <a:buChar char="●"/>
            </a:pPr>
            <a:r>
              <a:rPr lang="en-US" sz="1400" dirty="0">
                <a:solidFill>
                  <a:srgbClr val="1F1F1F"/>
                </a:solidFill>
                <a:latin typeface="Sora" pitchFamily="34" charset="0"/>
                <a:ea typeface="Sora" pitchFamily="34" charset="-122"/>
                <a:cs typeface="Sora" pitchFamily="34" charset="-120"/>
              </a:rPr>
              <a:t>Test it with three different briefs and keep the outputs</a:t>
            </a:r>
            <a:endParaRPr lang="en-US" sz="1400" dirty="0"/>
          </a:p>
        </p:txBody>
      </p:sp>
      <p:sp>
        <p:nvSpPr>
          <p:cNvPr id="6" name="Shape 4"/>
          <p:cNvSpPr/>
          <p:nvPr/>
        </p:nvSpPr>
        <p:spPr>
          <a:xfrm>
            <a:off x="6309360" y="1645920"/>
            <a:ext cx="5394960" cy="3291840"/>
          </a:xfrm>
          <a:prstGeom prst="roundRect">
            <a:avLst>
              <a:gd name="adj" fmla="val 4167"/>
            </a:avLst>
          </a:prstGeom>
          <a:solidFill>
            <a:srgbClr val="FFF8EC"/>
          </a:solidFill>
          <a:ln w="19050">
            <a:solidFill>
              <a:srgbClr val="F5A623"/>
            </a:solidFill>
            <a:prstDash val="solid"/>
          </a:ln>
        </p:spPr>
        <p:txBody>
          <a:bodyPr/>
          <a:lstStyle/>
          <a:p>
            <a:endParaRPr lang="en-US"/>
          </a:p>
        </p:txBody>
      </p:sp>
      <p:sp>
        <p:nvSpPr>
          <p:cNvPr id="7" name="Shape 5"/>
          <p:cNvSpPr/>
          <p:nvPr/>
        </p:nvSpPr>
        <p:spPr>
          <a:xfrm>
            <a:off x="6309360" y="1645920"/>
            <a:ext cx="5394960" cy="502920"/>
          </a:xfrm>
          <a:prstGeom prst="rect">
            <a:avLst/>
          </a:prstGeom>
          <a:solidFill>
            <a:srgbClr val="F5A623"/>
          </a:solidFill>
          <a:ln w="12700">
            <a:solidFill>
              <a:srgbClr val="F5A623"/>
            </a:solidFill>
            <a:prstDash val="solid"/>
          </a:ln>
        </p:spPr>
        <p:txBody>
          <a:bodyPr/>
          <a:lstStyle/>
          <a:p>
            <a:endParaRPr lang="en-US"/>
          </a:p>
        </p:txBody>
      </p:sp>
      <p:sp>
        <p:nvSpPr>
          <p:cNvPr id="8" name="Text 6"/>
          <p:cNvSpPr/>
          <p:nvPr/>
        </p:nvSpPr>
        <p:spPr>
          <a:xfrm>
            <a:off x="6309360" y="1645920"/>
            <a:ext cx="5394960" cy="502920"/>
          </a:xfrm>
          <a:prstGeom prst="rect">
            <a:avLst/>
          </a:prstGeom>
          <a:noFill/>
          <a:ln/>
        </p:spPr>
        <p:txBody>
          <a:bodyPr wrap="square" rtlCol="0" anchor="ctr"/>
          <a:lstStyle/>
          <a:p>
            <a:pPr marL="0" indent="0" algn="ctr">
              <a:buNone/>
            </a:pPr>
            <a:r>
              <a:rPr lang="en-US" sz="1200" b="1" kern="0" spc="800" dirty="0">
                <a:solidFill>
                  <a:srgbClr val="1F1F1F"/>
                </a:solidFill>
                <a:latin typeface="Sora" pitchFamily="34" charset="0"/>
                <a:ea typeface="Sora" pitchFamily="34" charset="-122"/>
                <a:cs typeface="Sora" pitchFamily="34" charset="-120"/>
              </a:rPr>
              <a:t>STRETCH GOAL</a:t>
            </a:r>
            <a:endParaRPr lang="en-US" sz="1200" dirty="0"/>
          </a:p>
        </p:txBody>
      </p:sp>
      <p:sp>
        <p:nvSpPr>
          <p:cNvPr id="9" name="Text 7"/>
          <p:cNvSpPr/>
          <p:nvPr/>
        </p:nvSpPr>
        <p:spPr>
          <a:xfrm>
            <a:off x="6537960" y="2331720"/>
            <a:ext cx="4937760" cy="2468880"/>
          </a:xfrm>
          <a:prstGeom prst="rect">
            <a:avLst/>
          </a:prstGeom>
          <a:noFill/>
          <a:ln/>
        </p:spPr>
        <p:txBody>
          <a:bodyPr wrap="square" rtlCol="0" anchor="ctr"/>
          <a:lstStyle/>
          <a:p>
            <a:pPr marL="0" indent="0">
              <a:buNone/>
            </a:pPr>
            <a:r>
              <a:rPr lang="en-US" sz="1500" dirty="0">
                <a:solidFill>
                  <a:srgbClr val="1F1F1F"/>
                </a:solidFill>
                <a:latin typeface="Sora" pitchFamily="34" charset="0"/>
                <a:ea typeface="Sora" pitchFamily="34" charset="-122"/>
                <a:cs typeface="Sora" pitchFamily="34" charset="-120"/>
              </a:rPr>
              <a:t>Extend the assistant so it returns three subject-line variations AND can translate the full email into a second language of the team's choice.</a:t>
            </a:r>
            <a:endParaRPr lang="en-US" sz="1500" dirty="0"/>
          </a:p>
        </p:txBody>
      </p:sp>
      <p:sp>
        <p:nvSpPr>
          <p:cNvPr id="10" name="Text 8"/>
          <p:cNvSpPr/>
          <p:nvPr/>
        </p:nvSpPr>
        <p:spPr>
          <a:xfrm>
            <a:off x="457200" y="5212080"/>
            <a:ext cx="10972800" cy="320040"/>
          </a:xfrm>
          <a:prstGeom prst="rect">
            <a:avLst/>
          </a:prstGeom>
          <a:noFill/>
          <a:ln/>
        </p:spPr>
        <p:txBody>
          <a:bodyPr wrap="square" rtlCol="0" anchor="ctr"/>
          <a:lstStyle/>
          <a:p>
            <a:pPr marL="0" indent="0">
              <a:buNone/>
            </a:pPr>
            <a:r>
              <a:rPr lang="en-US" sz="1200" i="1" dirty="0">
                <a:solidFill>
                  <a:srgbClr val="6B6B6B"/>
                </a:solidFill>
                <a:latin typeface="Sora" pitchFamily="34" charset="0"/>
                <a:ea typeface="Sora" pitchFamily="34" charset="-122"/>
                <a:cs typeface="Sora" pitchFamily="34" charset="-120"/>
              </a:rPr>
              <a:t>This challenge brings together:</a:t>
            </a:r>
            <a:endParaRPr lang="en-US" sz="1200" dirty="0"/>
          </a:p>
        </p:txBody>
      </p:sp>
      <p:sp>
        <p:nvSpPr>
          <p:cNvPr id="11" name="Shape 9"/>
          <p:cNvSpPr/>
          <p:nvPr/>
        </p:nvSpPr>
        <p:spPr>
          <a:xfrm>
            <a:off x="457200" y="5577840"/>
            <a:ext cx="3611880" cy="640080"/>
          </a:xfrm>
          <a:prstGeom prst="roundRect">
            <a:avLst>
              <a:gd name="adj" fmla="val 14286"/>
            </a:avLst>
          </a:prstGeom>
          <a:solidFill>
            <a:srgbClr val="FFFFFF"/>
          </a:solidFill>
          <a:ln w="12700">
            <a:solidFill>
              <a:srgbClr val="F5A623"/>
            </a:solidFill>
            <a:prstDash val="solid"/>
          </a:ln>
        </p:spPr>
        <p:txBody>
          <a:bodyPr/>
          <a:lstStyle/>
          <a:p>
            <a:endParaRPr lang="en-US"/>
          </a:p>
        </p:txBody>
      </p:sp>
      <p:sp>
        <p:nvSpPr>
          <p:cNvPr id="12" name="Text 10"/>
          <p:cNvSpPr/>
          <p:nvPr/>
        </p:nvSpPr>
        <p:spPr>
          <a:xfrm>
            <a:off x="594360" y="5577840"/>
            <a:ext cx="3429000" cy="640080"/>
          </a:xfrm>
          <a:prstGeom prst="rect">
            <a:avLst/>
          </a:prstGeom>
          <a:noFill/>
          <a:ln/>
        </p:spPr>
        <p:txBody>
          <a:bodyPr wrap="square" rtlCol="0" anchor="ctr"/>
          <a:lstStyle/>
          <a:p>
            <a:pPr marL="0" indent="0">
              <a:buNone/>
            </a:pPr>
            <a:r>
              <a:rPr lang="en-US" sz="1100" dirty="0">
                <a:solidFill>
                  <a:srgbClr val="1F1F1F"/>
                </a:solidFill>
                <a:latin typeface="Sora" pitchFamily="34" charset="0"/>
                <a:ea typeface="Sora" pitchFamily="34" charset="-122"/>
                <a:cs typeface="Sora" pitchFamily="34" charset="-120"/>
              </a:rPr>
              <a:t>1. Types of AI — choosing the right tool for the job</a:t>
            </a:r>
            <a:endParaRPr lang="en-US" sz="1100" dirty="0"/>
          </a:p>
        </p:txBody>
      </p:sp>
      <p:sp>
        <p:nvSpPr>
          <p:cNvPr id="13" name="Shape 11"/>
          <p:cNvSpPr/>
          <p:nvPr/>
        </p:nvSpPr>
        <p:spPr>
          <a:xfrm>
            <a:off x="4315968" y="5577840"/>
            <a:ext cx="3611880" cy="640080"/>
          </a:xfrm>
          <a:prstGeom prst="roundRect">
            <a:avLst>
              <a:gd name="adj" fmla="val 14286"/>
            </a:avLst>
          </a:prstGeom>
          <a:solidFill>
            <a:srgbClr val="FFFFFF"/>
          </a:solidFill>
          <a:ln w="12700">
            <a:solidFill>
              <a:srgbClr val="F5A623"/>
            </a:solidFill>
            <a:prstDash val="solid"/>
          </a:ln>
        </p:spPr>
        <p:txBody>
          <a:bodyPr/>
          <a:lstStyle/>
          <a:p>
            <a:endParaRPr lang="en-US"/>
          </a:p>
        </p:txBody>
      </p:sp>
      <p:sp>
        <p:nvSpPr>
          <p:cNvPr id="14" name="Text 12"/>
          <p:cNvSpPr/>
          <p:nvPr/>
        </p:nvSpPr>
        <p:spPr>
          <a:xfrm>
            <a:off x="4453128" y="5577840"/>
            <a:ext cx="3429000" cy="640080"/>
          </a:xfrm>
          <a:prstGeom prst="rect">
            <a:avLst/>
          </a:prstGeom>
          <a:noFill/>
          <a:ln/>
        </p:spPr>
        <p:txBody>
          <a:bodyPr wrap="square" rtlCol="0" anchor="ctr"/>
          <a:lstStyle/>
          <a:p>
            <a:pPr marL="0" indent="0">
              <a:buNone/>
            </a:pPr>
            <a:r>
              <a:rPr lang="en-US" sz="1100" dirty="0">
                <a:solidFill>
                  <a:srgbClr val="1F1F1F"/>
                </a:solidFill>
                <a:latin typeface="Sora" pitchFamily="34" charset="0"/>
                <a:ea typeface="Sora" pitchFamily="34" charset="-122"/>
                <a:cs typeface="Sora" pitchFamily="34" charset="-120"/>
              </a:rPr>
              <a:t>2. Prompting — packaging a repeatable brief into instructions</a:t>
            </a:r>
            <a:endParaRPr lang="en-US" sz="1100" dirty="0"/>
          </a:p>
        </p:txBody>
      </p:sp>
      <p:sp>
        <p:nvSpPr>
          <p:cNvPr id="15" name="Shape 13"/>
          <p:cNvSpPr/>
          <p:nvPr/>
        </p:nvSpPr>
        <p:spPr>
          <a:xfrm>
            <a:off x="8174736" y="5577840"/>
            <a:ext cx="3611880" cy="640080"/>
          </a:xfrm>
          <a:prstGeom prst="roundRect">
            <a:avLst>
              <a:gd name="adj" fmla="val 14286"/>
            </a:avLst>
          </a:prstGeom>
          <a:solidFill>
            <a:srgbClr val="FFFFFF"/>
          </a:solidFill>
          <a:ln w="12700">
            <a:solidFill>
              <a:srgbClr val="F5A623"/>
            </a:solidFill>
            <a:prstDash val="solid"/>
          </a:ln>
        </p:spPr>
        <p:txBody>
          <a:bodyPr/>
          <a:lstStyle/>
          <a:p>
            <a:endParaRPr lang="en-US"/>
          </a:p>
        </p:txBody>
      </p:sp>
      <p:sp>
        <p:nvSpPr>
          <p:cNvPr id="16" name="Text 14"/>
          <p:cNvSpPr/>
          <p:nvPr/>
        </p:nvSpPr>
        <p:spPr>
          <a:xfrm>
            <a:off x="8311896" y="5577840"/>
            <a:ext cx="3429000" cy="640080"/>
          </a:xfrm>
          <a:prstGeom prst="rect">
            <a:avLst/>
          </a:prstGeom>
          <a:noFill/>
          <a:ln/>
        </p:spPr>
        <p:txBody>
          <a:bodyPr wrap="square" rtlCol="0" anchor="ctr"/>
          <a:lstStyle/>
          <a:p>
            <a:pPr marL="0" indent="0">
              <a:buNone/>
            </a:pPr>
            <a:r>
              <a:rPr lang="en-US" sz="1100" dirty="0">
                <a:solidFill>
                  <a:srgbClr val="1F1F1F"/>
                </a:solidFill>
                <a:latin typeface="Sora" pitchFamily="34" charset="0"/>
                <a:ea typeface="Sora" pitchFamily="34" charset="-122"/>
                <a:cs typeface="Sora" pitchFamily="34" charset="-120"/>
              </a:rPr>
              <a:t>3. Custom GPTs — turning the prompt into a shareable team tool</a:t>
            </a:r>
            <a:endParaRPr lang="en-US" sz="1100" dirty="0"/>
          </a:p>
        </p:txBody>
      </p:sp>
      <p:sp>
        <p:nvSpPr>
          <p:cNvPr id="18" name="Text 15"/>
          <p:cNvSpPr/>
          <p:nvPr/>
        </p:nvSpPr>
        <p:spPr>
          <a:xfrm>
            <a:off x="457200" y="6537960"/>
            <a:ext cx="8229600" cy="274320"/>
          </a:xfrm>
          <a:prstGeom prst="rect">
            <a:avLst/>
          </a:prstGeom>
          <a:noFill/>
          <a:ln/>
        </p:spPr>
        <p:txBody>
          <a:bodyPr wrap="square" rtlCol="0" anchor="ctr"/>
          <a:lstStyle/>
          <a:p>
            <a:pPr marL="0" indent="0" algn="l">
              <a:buNone/>
            </a:pPr>
            <a:r>
              <a:rPr lang="en-US" sz="900" dirty="0">
                <a:solidFill>
                  <a:srgbClr val="6B6B6B"/>
                </a:solidFill>
                <a:latin typeface="Sora" pitchFamily="34" charset="0"/>
                <a:ea typeface="Sora" pitchFamily="34" charset="-122"/>
                <a:cs typeface="Sora" pitchFamily="34" charset="-120"/>
              </a:rPr>
              <a:t>Session 1 · Introduction to AI Tools</a:t>
            </a:r>
            <a:r>
              <a:rPr lang="en-US" sz="900" dirty="0">
                <a:solidFill>
                  <a:srgbClr val="6B6B6B"/>
                </a:solidFill>
              </a:rPr>
              <a:t>   |   </a:t>
            </a:r>
            <a:r>
              <a:rPr lang="en-US" sz="900" b="1" dirty="0">
                <a:solidFill>
                  <a:srgbClr val="6B6B6B"/>
                </a:solidFill>
                <a:latin typeface="Sora" pitchFamily="34" charset="0"/>
                <a:ea typeface="Sora" pitchFamily="34" charset="-122"/>
                <a:cs typeface="Sora" pitchFamily="34" charset="-120"/>
              </a:rPr>
              <a:t>Challenge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5A623"/>
          </a:solidFill>
          <a:ln w="12700">
            <a:solidFill>
              <a:srgbClr val="F5A623"/>
            </a:solidFill>
            <a:prstDash val="solid"/>
          </a:ln>
        </p:spPr>
        <p:txBody>
          <a:bodyPr/>
          <a:lstStyle/>
          <a:p>
            <a:endParaRPr lang="en-US"/>
          </a:p>
        </p:txBody>
      </p:sp>
      <p:sp>
        <p:nvSpPr>
          <p:cNvPr id="3" name="Text 1"/>
          <p:cNvSpPr/>
          <p:nvPr/>
        </p:nvSpPr>
        <p:spPr>
          <a:xfrm>
            <a:off x="822960" y="2103120"/>
            <a:ext cx="10058400" cy="1371600"/>
          </a:xfrm>
          <a:prstGeom prst="rect">
            <a:avLst/>
          </a:prstGeom>
          <a:noFill/>
          <a:ln/>
        </p:spPr>
        <p:txBody>
          <a:bodyPr wrap="square" rtlCol="0" anchor="ctr"/>
          <a:lstStyle/>
          <a:p>
            <a:pPr marL="0" indent="0">
              <a:buNone/>
            </a:pPr>
            <a:r>
              <a:rPr lang="en-US" sz="6000" b="1" dirty="0">
                <a:latin typeface="Sora" pitchFamily="34" charset="0"/>
                <a:ea typeface="Sora" pitchFamily="34" charset="-122"/>
                <a:cs typeface="Sora" pitchFamily="34" charset="-120"/>
              </a:rPr>
              <a:t>That's a wrap.</a:t>
            </a:r>
            <a:endParaRPr lang="en-US" sz="6000" dirty="0"/>
          </a:p>
        </p:txBody>
      </p:sp>
      <p:sp>
        <p:nvSpPr>
          <p:cNvPr id="4" name="Text 2"/>
          <p:cNvSpPr/>
          <p:nvPr/>
        </p:nvSpPr>
        <p:spPr>
          <a:xfrm>
            <a:off x="822960" y="3657600"/>
            <a:ext cx="10058400" cy="1371600"/>
          </a:xfrm>
          <a:prstGeom prst="rect">
            <a:avLst/>
          </a:prstGeom>
          <a:noFill/>
          <a:ln/>
        </p:spPr>
        <p:txBody>
          <a:bodyPr wrap="square" rtlCol="0" anchor="ctr"/>
          <a:lstStyle/>
          <a:p>
            <a:pPr marL="0" indent="0">
              <a:buNone/>
            </a:pPr>
            <a:r>
              <a:rPr lang="en-US" sz="2000" dirty="0">
                <a:solidFill>
                  <a:srgbClr val="FFD18A"/>
                </a:solidFill>
                <a:latin typeface="Sora" pitchFamily="34" charset="0"/>
                <a:ea typeface="Sora" pitchFamily="34" charset="-122"/>
                <a:cs typeface="Sora" pitchFamily="34" charset="-120"/>
              </a:rPr>
              <a:t>Take the workbook home. Try the challenge on a real task this week. Bring what you built to the next session.</a:t>
            </a:r>
            <a:endParaRPr lang="en-US" sz="2000" dirty="0"/>
          </a:p>
        </p:txBody>
      </p:sp>
      <p:sp>
        <p:nvSpPr>
          <p:cNvPr id="5" name="Text 3"/>
          <p:cNvSpPr/>
          <p:nvPr/>
        </p:nvSpPr>
        <p:spPr>
          <a:xfrm>
            <a:off x="822960" y="5943600"/>
            <a:ext cx="10058400" cy="365760"/>
          </a:xfrm>
          <a:prstGeom prst="rect">
            <a:avLst/>
          </a:prstGeom>
          <a:noFill/>
          <a:ln/>
        </p:spPr>
        <p:txBody>
          <a:bodyPr wrap="square" rtlCol="0" anchor="ctr"/>
          <a:lstStyle/>
          <a:p>
            <a:pPr marL="0" indent="0">
              <a:buNone/>
            </a:pPr>
            <a:r>
              <a:rPr lang="en-US" sz="1200" dirty="0">
                <a:solidFill>
                  <a:srgbClr val="6B6B6B"/>
                </a:solidFill>
                <a:latin typeface="Sora" pitchFamily="34" charset="0"/>
                <a:ea typeface="Sora" pitchFamily="34" charset="-122"/>
                <a:cs typeface="Sora" pitchFamily="34" charset="-120"/>
              </a:rPr>
              <a:t>Step8Up Academy  ·  AI Bootcamp</a:t>
            </a:r>
            <a:endParaRPr lang="en-US" sz="1200" dirty="0"/>
          </a:p>
        </p:txBody>
      </p:sp>
      <p:pic>
        <p:nvPicPr>
          <p:cNvPr id="7" name="Picture 6">
            <a:extLst>
              <a:ext uri="{FF2B5EF4-FFF2-40B4-BE49-F238E27FC236}">
                <a16:creationId xmlns:a16="http://schemas.microsoft.com/office/drawing/2014/main" id="{33AB3EB2-F839-36BF-DEC2-2D1CF88D10B2}"/>
              </a:ext>
            </a:extLst>
          </p:cNvPr>
          <p:cNvPicPr>
            <a:picLocks noChangeAspect="1"/>
          </p:cNvPicPr>
          <p:nvPr/>
        </p:nvPicPr>
        <p:blipFill>
          <a:blip r:embed="rId3"/>
          <a:stretch>
            <a:fillRect/>
          </a:stretch>
        </p:blipFill>
        <p:spPr>
          <a:xfrm>
            <a:off x="9072282" y="0"/>
            <a:ext cx="3119718" cy="175484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4736</Words>
  <Application>Microsoft Macintosh PowerPoint</Application>
  <PresentationFormat>Widescreen</PresentationFormat>
  <Paragraphs>297</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Sora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Step8Up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Introduction to AI Tools</dc:title>
  <dc:subject>PptxGenJS Presentation</dc:subject>
  <dc:creator>Step8Up Academy</dc:creator>
  <cp:lastModifiedBy>Jason Sammon</cp:lastModifiedBy>
  <cp:revision>5</cp:revision>
  <dcterms:created xsi:type="dcterms:W3CDTF">2026-04-18T15:26:36Z</dcterms:created>
  <dcterms:modified xsi:type="dcterms:W3CDTF">2026-06-07T19:47:35Z</dcterms:modified>
</cp:coreProperties>
</file>