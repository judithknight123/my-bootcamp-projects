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94" r:id="rId5"/>
    <p:sldId id="295" r:id="rId6"/>
    <p:sldId id="296" r:id="rId7"/>
    <p:sldId id="287" r:id="rId8"/>
    <p:sldId id="269" r:id="rId9"/>
    <p:sldId id="289" r:id="rId10"/>
    <p:sldId id="290" r:id="rId11"/>
    <p:sldId id="297" r:id="rId12"/>
    <p:sldId id="298" r:id="rId13"/>
    <p:sldId id="29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E370F6-7DF4-F54D-B9DF-9D5D591BEA5B}">
          <p14:sldIdLst>
            <p14:sldId id="256"/>
            <p14:sldId id="258"/>
            <p14:sldId id="259"/>
            <p14:sldId id="294"/>
            <p14:sldId id="295"/>
            <p14:sldId id="296"/>
            <p14:sldId id="287"/>
            <p14:sldId id="269"/>
            <p14:sldId id="289"/>
            <p14:sldId id="290"/>
            <p14:sldId id="297"/>
            <p14:sldId id="298"/>
            <p14:sldId id="292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694"/>
  </p:normalViewPr>
  <p:slideViewPr>
    <p:cSldViewPr snapToGrid="0">
      <p:cViewPr varScale="1">
        <p:scale>
          <a:sx n="107" d="100"/>
          <a:sy n="107" d="100"/>
        </p:scale>
        <p:origin x="1112" y="4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0BAE4D-1DF5-DBC8-C0E1-341A698F0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055B0-A7BF-D385-29FD-1C647D2CAD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EEF22-1558-4F4E-E780-476DE05D47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A91834-0B04-3E19-155D-1ADB069209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13574-AD33-664A-9A18-59BB3DCAFFDB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0F55C-F448-81FB-ADC7-496DCE5E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11112"/>
            <a:ext cx="19050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78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84A5F-B9F5-9B43-BE5B-EBBCD564659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1FFD5-F11F-1A49-B4BA-FB7EDA4EB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9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26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5544-6753-F0D9-26E4-7993702C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4E35E-58FB-8752-7273-2191434AC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C72E0-55A2-EC66-1813-FB9D5A511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4B817-0B39-AB12-768C-E069AB380B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71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9E4C-B3A9-C7EC-9AFF-67D24E12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FBF5D-3E8E-3523-EEFF-94E537AF1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C3826-FD65-2D72-D486-31B6E4060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ED310-0794-19B7-91D9-D4EE9511F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00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E66DB-BF6F-A8F0-8406-172295C5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B2E38-4189-4D6A-563B-927372719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2E52D-A6F5-3698-A4C5-147C46452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0E0AE-8443-6561-AF59-8A96C4BA8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1FFD5-F11F-1A49-B4BA-FB7EDA4EB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48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318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76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9C646AA-F36E-4540-911D-FFFC0A0EF24A}" type="datetime1">
              <a:rPr lang="en-US" smtClean="0"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59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6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2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4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0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8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1496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634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67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A0C0817-A112-4847-8014-A94B7D2A4EA3}" type="datetime1">
              <a:rPr lang="en-US" smtClean="0"/>
              <a:t>10/7/25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A9A0F2-F2C7-E2AE-DD72-C2CA527AAF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58961" y="0"/>
            <a:ext cx="1231557" cy="444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1" name="Picture 10" descr="A yellow sign with black text&#10;&#10;Description automatically generated">
            <a:extLst>
              <a:ext uri="{FF2B5EF4-FFF2-40B4-BE49-F238E27FC236}">
                <a16:creationId xmlns:a16="http://schemas.microsoft.com/office/drawing/2014/main" id="{27AD493B-BD62-381E-8858-C07EE1CDC9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8310" y="0"/>
            <a:ext cx="1743689" cy="43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7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6FA2B21-3FCD-4721-B95C-427943F61125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Picture 6" descr="A yellow sign with black text&#10;&#10;Description automatically generated">
            <a:extLst>
              <a:ext uri="{FF2B5EF4-FFF2-40B4-BE49-F238E27FC236}">
                <a16:creationId xmlns:a16="http://schemas.microsoft.com/office/drawing/2014/main" id="{2A5087A0-D020-5E80-4D95-C1A2BD6B309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50750" y="9361"/>
            <a:ext cx="1741250" cy="42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5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arrays.asp" TargetMode="External"/><Relationship Id="rId2" Type="http://schemas.openxmlformats.org/officeDocument/2006/relationships/hyperlink" Target="https://developer.mozilla.org/en-US/docs/Web/JavaScript/Guide/Working_with_Objects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w3schools.com/js/js_string_methods.asp" TargetMode="External"/><Relationship Id="rId4" Type="http://schemas.openxmlformats.org/officeDocument/2006/relationships/hyperlink" Target="https://developer.mozilla.org/en-US/docs/Web/JavaScript/Reference/Global_Objects/Object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A7997F61-D8B6-EBC7-8970-D0DBC50D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4"/>
          <a:stretch/>
        </p:blipFill>
        <p:spPr>
          <a:xfrm>
            <a:off x="0" y="462464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CC1F8-0C31-FBD0-ADA3-C5F8D4F16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04138"/>
            <a:ext cx="10965142" cy="126310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4000" dirty="0">
                <a:solidFill>
                  <a:schemeClr val="tx1"/>
                </a:solidFill>
              </a:rPr>
              <a:t>JavaScript Objects, Arrays, and Loops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DDF65-AE5B-3706-129A-12524D89F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67246"/>
            <a:ext cx="10965142" cy="4848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Full stack Skills Bootcamp</a:t>
            </a:r>
            <a:endParaRPr lang="en-US" dirty="0">
              <a:solidFill>
                <a:srgbClr val="6CD0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088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EC6C-4AE1-B116-58AB-212E6825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loops, objects, and arrays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B9B7-69BD-DA3B-DA39-22C51B9D9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Lesson Overview:</a:t>
            </a:r>
          </a:p>
          <a:p>
            <a:r>
              <a:rPr lang="en-GB" dirty="0"/>
              <a:t>In this lesson, we will be introduced to:</a:t>
            </a:r>
            <a:br>
              <a:rPr lang="en-GB" dirty="0"/>
            </a:br>
            <a:endParaRPr lang="en-GB" dirty="0"/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Traditional for loops and how they work.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Introduction to objects and arrays.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Adding custom methods to objects.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Using built-in methods for objects and arrays.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Common string methods</a:t>
            </a:r>
          </a:p>
        </p:txBody>
      </p:sp>
    </p:spTree>
    <p:extLst>
      <p:ext uri="{BB962C8B-B14F-4D97-AF65-F5344CB8AC3E}">
        <p14:creationId xmlns:p14="http://schemas.microsoft.com/office/powerpoint/2010/main" val="211296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D69EB-42C6-BBE7-4191-2CACF89B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Understanding the Traditional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FC59-A100-3F49-F885-8DA5AADA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What is a for loop?</a:t>
            </a:r>
            <a:br>
              <a:rPr lang="en-GB" dirty="0"/>
            </a:br>
            <a:r>
              <a:rPr lang="en-GB" dirty="0"/>
              <a:t>A for loop allows you to run a block of code a specified number of times.</a:t>
            </a:r>
          </a:p>
          <a:p>
            <a:r>
              <a:rPr lang="en-GB" b="1" dirty="0"/>
              <a:t>Example: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1E7AF76-1143-D116-1FCB-0A15544A7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583" y="3597645"/>
            <a:ext cx="55118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2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F4E8A-486A-2A28-641E-49834027C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870E-96B8-77F6-1D2B-B305F794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Including JavaScript in a Web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276C5-A7E7-E399-8F6B-9FEBE2596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Syntax of a for loop:</a:t>
            </a:r>
            <a:br>
              <a:rPr lang="en-GB" b="1" dirty="0"/>
            </a:br>
            <a:br>
              <a:rPr lang="en-GB" b="1" dirty="0"/>
            </a:br>
            <a:r>
              <a:rPr lang="en-GB" b="1" dirty="0"/>
              <a:t>Initialization</a:t>
            </a:r>
            <a:r>
              <a:rPr lang="en-GB" dirty="0"/>
              <a:t>: </a:t>
            </a:r>
            <a:br>
              <a:rPr lang="en-GB" dirty="0"/>
            </a:br>
            <a:r>
              <a:rPr lang="en-GB" dirty="0"/>
              <a:t>A variable is initialized (e.g., var </a:t>
            </a:r>
            <a:r>
              <a:rPr lang="en-GB" dirty="0" err="1"/>
              <a:t>i</a:t>
            </a:r>
            <a:r>
              <a:rPr lang="en-GB" dirty="0"/>
              <a:t> = 0).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Condition</a:t>
            </a:r>
            <a:r>
              <a:rPr lang="en-GB" dirty="0"/>
              <a:t>: The loop runs as long as the condition is true (e.g., </a:t>
            </a:r>
            <a:r>
              <a:rPr lang="en-GB" dirty="0" err="1"/>
              <a:t>i</a:t>
            </a:r>
            <a:r>
              <a:rPr lang="en-GB" dirty="0"/>
              <a:t> &lt; 10).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Increment</a:t>
            </a:r>
            <a:r>
              <a:rPr lang="en-GB" dirty="0"/>
              <a:t>: The value is updated after every iteration (e.g., </a:t>
            </a:r>
            <a:r>
              <a:rPr lang="en-GB" dirty="0" err="1"/>
              <a:t>i</a:t>
            </a:r>
            <a:r>
              <a:rPr lang="en-GB" dirty="0"/>
              <a:t>++).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Demo…</a:t>
            </a: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91C5DE3-69B7-E17E-4BF8-D3969F7B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766" y="3554597"/>
            <a:ext cx="40767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9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90DB-F106-7905-A8D0-4A88C162F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FC5C-94D3-FF52-0A61-780824DF7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Objects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F545F-5FCB-5816-EB32-050A24AB6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Definition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Objects are collections of key-value pairs.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Objects allow you to store related data and functions (called methods) in one structured format.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Objects can store </a:t>
            </a:r>
            <a:r>
              <a:rPr lang="en-GB" b="1" dirty="0"/>
              <a:t>primitive values</a:t>
            </a:r>
            <a:r>
              <a:rPr lang="en-GB" dirty="0"/>
              <a:t> (strings, numbers, </a:t>
            </a:r>
            <a:r>
              <a:rPr lang="en-GB" dirty="0" err="1"/>
              <a:t>booleans</a:t>
            </a:r>
            <a:r>
              <a:rPr lang="en-GB" dirty="0"/>
              <a:t>) and functions.</a:t>
            </a:r>
          </a:p>
        </p:txBody>
      </p:sp>
      <p:pic>
        <p:nvPicPr>
          <p:cNvPr id="6" name="Picture 5" descr="A black background with white text and blue text&#10;&#10;Description automatically generated">
            <a:extLst>
              <a:ext uri="{FF2B5EF4-FFF2-40B4-BE49-F238E27FC236}">
                <a16:creationId xmlns:a16="http://schemas.microsoft.com/office/drawing/2014/main" id="{F820B689-4E91-DC9C-388B-54E8171D5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807" y="3066626"/>
            <a:ext cx="49530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162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3A2D5-79EF-6C4B-982A-B0D8EF32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CBB0-58ED-9772-C2E0-855EA4A02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Arrays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28E33-DB28-2F65-94EE-1FCCDFB3B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190326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Definition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Arrays are ordered lists of items.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Arrays are used to store multiple values in a single variable.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Arrays are zero-indexed, meaning the first element is at index 0.</a:t>
            </a:r>
          </a:p>
        </p:txBody>
      </p:sp>
      <p:pic>
        <p:nvPicPr>
          <p:cNvPr id="5" name="Picture 4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6E0B1E1F-6289-68BB-CD07-6047FB7D2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876" y="3429000"/>
            <a:ext cx="53086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8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7E627-D464-8A07-2D07-8862467C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A8DE-E7D4-1852-9E9A-147009DA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Adding Methods to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3432-E889-6FB6-BC37-E865B56F7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Definition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 method is simply a function stored as a property in an object.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Methods allow objects to perform actions based on their properties.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Example</a:t>
            </a:r>
            <a:r>
              <a:rPr lang="en-GB" dirty="0"/>
              <a:t>: Adding a method to an object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</a:t>
            </a:r>
            <a:r>
              <a:rPr lang="en-GB" i="1" dirty="0"/>
              <a:t>this</a:t>
            </a:r>
            <a:r>
              <a:rPr lang="en-GB" dirty="0"/>
              <a:t> keyword refers to the current object.</a:t>
            </a:r>
          </a:p>
        </p:txBody>
      </p:sp>
      <p:pic>
        <p:nvPicPr>
          <p:cNvPr id="6" name="Picture 5" descr="A computer code on a black background&#10;&#10;Description automatically generated">
            <a:extLst>
              <a:ext uri="{FF2B5EF4-FFF2-40B4-BE49-F238E27FC236}">
                <a16:creationId xmlns:a16="http://schemas.microsoft.com/office/drawing/2014/main" id="{61862276-C937-EA1F-EB80-C7240E19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19" y="3144157"/>
            <a:ext cx="59817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6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8EA1F-757A-0CAD-82A5-0D0564C6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C4B6C-C56E-4369-84BB-5EB567217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Example of Object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7C5FA-63D8-72C9-6EB4-109F61F5F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Example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Accessing and manipulating an object: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Use dot notation (</a:t>
            </a:r>
            <a:r>
              <a:rPr lang="en-GB" dirty="0" err="1"/>
              <a:t>person.name</a:t>
            </a:r>
            <a:r>
              <a:rPr lang="en-GB" dirty="0"/>
              <a:t>) or bracket notation (person["name"]) to access properties.</a:t>
            </a: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6D3996E-29E9-E812-F2A8-238436F6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90" y="3173099"/>
            <a:ext cx="59563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99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BCFAD-AB74-790B-C28F-CC6646FE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729B-E9F3-ED10-8134-49B2A015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Common Object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D4F13-686A-C501-DCC7-9DE01A2F4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 err="1"/>
              <a:t>Object.keys</a:t>
            </a:r>
            <a:r>
              <a:rPr lang="en-GB" b="1" dirty="0"/>
              <a:t>()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Returns an array of the object's property names</a:t>
            </a:r>
          </a:p>
          <a:p>
            <a:r>
              <a:rPr lang="en-GB" b="1" dirty="0" err="1"/>
              <a:t>Object.values</a:t>
            </a:r>
            <a:r>
              <a:rPr lang="en-GB" b="1" dirty="0"/>
              <a:t>()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Returns an array of the object's property values.</a:t>
            </a:r>
          </a:p>
          <a:p>
            <a:r>
              <a:rPr lang="en-GB" b="1" dirty="0" err="1"/>
              <a:t>Object.entries</a:t>
            </a:r>
            <a:r>
              <a:rPr lang="en-GB" b="1" dirty="0"/>
              <a:t>()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Returns an array of the object's key-value pairs.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FAF11-118A-D1C1-DB68-933E95298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903" y="2357316"/>
            <a:ext cx="6561498" cy="690684"/>
          </a:xfrm>
          <a:prstGeom prst="rect">
            <a:avLst/>
          </a:prstGeom>
        </p:spPr>
      </p:pic>
      <p:pic>
        <p:nvPicPr>
          <p:cNvPr id="8" name="Picture 7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47B645DF-4C9F-DF8C-D9B7-204B3CDFC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801" y="3945577"/>
            <a:ext cx="5435600" cy="723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DF7CF0-7A29-5677-4682-C6EB49D77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101" y="5567055"/>
            <a:ext cx="70993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28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2AD62-4549-3411-613C-C87866C4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F660-424B-1644-52D3-123663384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Common Array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D8CF-732E-3BB4-5E5A-951912E82D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push()</a:t>
            </a:r>
            <a:r>
              <a:rPr lang="en-GB" dirty="0"/>
              <a:t>: Adds an item to the end of the array.</a:t>
            </a:r>
            <a:r>
              <a:rPr lang="en-GB" b="1" dirty="0"/>
              <a:t>.</a:t>
            </a:r>
          </a:p>
          <a:p>
            <a:r>
              <a:rPr lang="en-GB" b="1" dirty="0"/>
              <a:t>pop()</a:t>
            </a:r>
            <a:r>
              <a:rPr lang="en-GB" dirty="0"/>
              <a:t>: Removes the last item from the array.</a:t>
            </a:r>
            <a:r>
              <a:rPr lang="en-GB" b="1" dirty="0"/>
              <a:t>.</a:t>
            </a:r>
          </a:p>
          <a:p>
            <a:r>
              <a:rPr lang="en-GB" b="1" dirty="0"/>
              <a:t>shift()</a:t>
            </a:r>
            <a:r>
              <a:rPr lang="en-GB" dirty="0"/>
              <a:t>: Removes the first item from the array.</a:t>
            </a:r>
            <a:r>
              <a:rPr lang="en-GB" b="1" dirty="0"/>
              <a:t>.</a:t>
            </a:r>
          </a:p>
          <a:p>
            <a:r>
              <a:rPr lang="en-GB" b="1" dirty="0"/>
              <a:t>unshift()</a:t>
            </a:r>
            <a:r>
              <a:rPr lang="en-GB" dirty="0"/>
              <a:t>: Adds an item to the beginning of the array.</a:t>
            </a:r>
          </a:p>
          <a:p>
            <a:r>
              <a:rPr lang="en-GB" b="1" dirty="0"/>
              <a:t>map()</a:t>
            </a:r>
            <a:r>
              <a:rPr lang="en-GB" dirty="0"/>
              <a:t>: Creates a new array by applying a function to each element</a:t>
            </a:r>
          </a:p>
        </p:txBody>
      </p:sp>
      <p:pic>
        <p:nvPicPr>
          <p:cNvPr id="5" name="Picture 4" descr="A black background with white text and red text&#10;&#10;Description automatically generated">
            <a:extLst>
              <a:ext uri="{FF2B5EF4-FFF2-40B4-BE49-F238E27FC236}">
                <a16:creationId xmlns:a16="http://schemas.microsoft.com/office/drawing/2014/main" id="{B54E1E94-1EEA-9AF0-4349-ABD03CC0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583" y="3303954"/>
            <a:ext cx="54737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1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6AC4-2D31-B295-2644-6C557E44B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2DC7-ED43-A352-5D3C-4D7C5C6A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Common 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AAB01-244F-2EDA-1E20-81A13093D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length</a:t>
            </a:r>
            <a:r>
              <a:rPr lang="en-GB" dirty="0"/>
              <a:t>: Returns the length of the string</a:t>
            </a:r>
          </a:p>
          <a:p>
            <a:r>
              <a:rPr lang="en-GB" b="1" dirty="0" err="1"/>
              <a:t>toUpperCase</a:t>
            </a:r>
            <a:r>
              <a:rPr lang="en-GB" b="1" dirty="0"/>
              <a:t>()</a:t>
            </a:r>
            <a:r>
              <a:rPr lang="en-GB" dirty="0"/>
              <a:t>: Converts the string to uppercase.</a:t>
            </a:r>
          </a:p>
          <a:p>
            <a:r>
              <a:rPr lang="en-GB" b="1" dirty="0" err="1"/>
              <a:t>toLowerCase</a:t>
            </a:r>
            <a:r>
              <a:rPr lang="en-GB" b="1" dirty="0"/>
              <a:t>()</a:t>
            </a:r>
            <a:r>
              <a:rPr lang="en-GB" dirty="0"/>
              <a:t>: Converts the string to lowercase</a:t>
            </a:r>
          </a:p>
          <a:p>
            <a:r>
              <a:rPr lang="en-GB" b="1" dirty="0" err="1"/>
              <a:t>indexOf</a:t>
            </a:r>
            <a:r>
              <a:rPr lang="en-GB" b="1" dirty="0"/>
              <a:t>()</a:t>
            </a:r>
            <a:r>
              <a:rPr lang="en-GB" dirty="0"/>
              <a:t>: Returns the index of the first occurrence of a substring.</a:t>
            </a:r>
          </a:p>
          <a:p>
            <a:r>
              <a:rPr lang="en-GB" b="1" dirty="0"/>
              <a:t>slice()</a:t>
            </a:r>
            <a:r>
              <a:rPr lang="en-GB" dirty="0"/>
              <a:t>: Extracts a portion of the string.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2559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1C02-AA49-F502-E887-DF0454C1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B9E1-724C-23C5-27ED-017237615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Practical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07F2-5E38-50EE-A72F-1C690DA24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Task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Create a function that accepts </a:t>
            </a:r>
            <a:br>
              <a:rPr lang="en-GB" dirty="0"/>
            </a:br>
            <a:r>
              <a:rPr lang="en-GB" dirty="0"/>
              <a:t>an object representing a </a:t>
            </a:r>
            <a:br>
              <a:rPr lang="en-GB" dirty="0"/>
            </a:br>
            <a:r>
              <a:rPr lang="en-GB" dirty="0"/>
              <a:t>student and returns a </a:t>
            </a:r>
            <a:br>
              <a:rPr lang="en-GB" dirty="0"/>
            </a:br>
            <a:r>
              <a:rPr lang="en-GB" dirty="0"/>
              <a:t>message with the student’s </a:t>
            </a:r>
            <a:br>
              <a:rPr lang="en-GB" dirty="0"/>
            </a:br>
            <a:r>
              <a:rPr lang="en-GB" dirty="0"/>
              <a:t>name and grade.</a:t>
            </a:r>
          </a:p>
        </p:txBody>
      </p:sp>
      <p:pic>
        <p:nvPicPr>
          <p:cNvPr id="5" name="Picture 4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0DF8048E-0A3F-BC7E-11A6-A67CBBCE2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869" y="2733578"/>
            <a:ext cx="7772400" cy="280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90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E109F-588F-7134-8695-E74285284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2E85-AFCF-3262-0A2D-3CAB42E2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23AC4-3B15-1984-83E6-4892CF66C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2" y="2110773"/>
            <a:ext cx="5198285" cy="3633047"/>
          </a:xfrm>
        </p:spPr>
        <p:txBody>
          <a:bodyPr anchor="ctr">
            <a:normAutofit/>
          </a:bodyPr>
          <a:lstStyle/>
          <a:p>
            <a:r>
              <a:rPr lang="en-GB" b="1" dirty="0"/>
              <a:t>Objects</a:t>
            </a:r>
            <a:r>
              <a:rPr lang="en-GB" dirty="0"/>
              <a:t> are collections of key-value pairs.</a:t>
            </a:r>
          </a:p>
          <a:p>
            <a:r>
              <a:rPr lang="en-GB" b="1" dirty="0"/>
              <a:t>Arrays</a:t>
            </a:r>
            <a:r>
              <a:rPr lang="en-GB" dirty="0"/>
              <a:t> are ordered lists of items.</a:t>
            </a:r>
          </a:p>
          <a:p>
            <a:r>
              <a:rPr lang="en-GB" b="1" dirty="0"/>
              <a:t>Common methods </a:t>
            </a:r>
            <a:r>
              <a:rPr lang="en-GB" dirty="0"/>
              <a:t>help manipulate both objects and arrays efficiently.</a:t>
            </a:r>
          </a:p>
          <a:p>
            <a:r>
              <a:rPr lang="en-GB" b="1" dirty="0"/>
              <a:t>Strings</a:t>
            </a:r>
            <a:r>
              <a:rPr lang="en-GB" dirty="0"/>
              <a:t> in JavaScript come with many built-in methods for text processing.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2F209E-0538-E382-3EA3-DABB85BF4A60}"/>
              </a:ext>
            </a:extLst>
          </p:cNvPr>
          <p:cNvSpPr txBox="1">
            <a:spLocks/>
          </p:cNvSpPr>
          <p:nvPr/>
        </p:nvSpPr>
        <p:spPr>
          <a:xfrm>
            <a:off x="6209482" y="2110773"/>
            <a:ext cx="5677718" cy="4571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Objects in JavaScript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 Web Docs: Working with Objects</a:t>
            </a:r>
            <a:br>
              <a:rPr lang="en-GB" sz="1900" dirty="0"/>
            </a:br>
            <a:endParaRPr lang="en-GB" sz="1900" dirty="0"/>
          </a:p>
          <a:p>
            <a:r>
              <a:rPr lang="en-GB" sz="1900" b="1" dirty="0"/>
              <a:t>Arrays: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W3Schools: Arrays</a:t>
            </a:r>
            <a:br>
              <a:rPr lang="en-GB" sz="1900" dirty="0"/>
            </a:br>
            <a:endParaRPr lang="en-GB" sz="1900" dirty="0"/>
          </a:p>
          <a:p>
            <a:r>
              <a:rPr lang="en-GB" b="1" dirty="0"/>
              <a:t>Object 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 Web Docs: Object Methods</a:t>
            </a:r>
            <a:br>
              <a:rPr lang="en-GB" sz="1900" dirty="0"/>
            </a:br>
            <a:endParaRPr lang="en-GB" sz="1900" dirty="0"/>
          </a:p>
          <a:p>
            <a:r>
              <a:rPr lang="en-GB" b="1" dirty="0"/>
              <a:t>String 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9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W3Schools: JavaScript String Methods</a:t>
            </a:r>
            <a:br>
              <a:rPr lang="en-GB" sz="19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4093454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E187-63BA-683D-B61F-11A4E6D4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077494"/>
            <a:ext cx="11029616" cy="1013800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88120856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Step8Up Ltd">
      <a:dk1>
        <a:srgbClr val="011892"/>
      </a:dk1>
      <a:lt1>
        <a:srgbClr val="FFFFFF"/>
      </a:lt1>
      <a:dk2>
        <a:srgbClr val="FF9300"/>
      </a:dk2>
      <a:lt2>
        <a:srgbClr val="E7E6E6"/>
      </a:lt2>
      <a:accent1>
        <a:srgbClr val="0E182B"/>
      </a:accent1>
      <a:accent2>
        <a:srgbClr val="F68138"/>
      </a:accent2>
      <a:accent3>
        <a:srgbClr val="A5A5A5"/>
      </a:accent3>
      <a:accent4>
        <a:srgbClr val="FFC000"/>
      </a:accent4>
      <a:accent5>
        <a:srgbClr val="61A9E9"/>
      </a:accent5>
      <a:accent6>
        <a:srgbClr val="90E15D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68CC33E-66BB-3D4F-AC4E-4E4FF8B683C4}" vid="{3CAADF33-9D07-F64D-BA70-6AC6839C8F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342</TotalTime>
  <Words>623</Words>
  <Application>Microsoft Macintosh PowerPoint</Application>
  <PresentationFormat>Widescreen</PresentationFormat>
  <Paragraphs>59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 2</vt:lpstr>
      <vt:lpstr>Dividend</vt:lpstr>
      <vt:lpstr>JavaScript Objects, Arrays, and Loops</vt:lpstr>
      <vt:lpstr>loops, objects, and arrays in JavaScript</vt:lpstr>
      <vt:lpstr>Understanding the Traditional For Loop</vt:lpstr>
      <vt:lpstr>Including JavaScript in a Web Page</vt:lpstr>
      <vt:lpstr>Objects in JavaScript</vt:lpstr>
      <vt:lpstr>Arrays in JavaScript</vt:lpstr>
      <vt:lpstr>Adding Methods to Objects</vt:lpstr>
      <vt:lpstr>Example of Object Usage</vt:lpstr>
      <vt:lpstr>Common Object Methods</vt:lpstr>
      <vt:lpstr>Common Array Methods</vt:lpstr>
      <vt:lpstr>Common String Methods</vt:lpstr>
      <vt:lpstr>Practical Example</vt:lpstr>
      <vt:lpstr>Conclusion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Terminal, GitHub, and VSCode</dc:title>
  <dc:creator>Jason Sammon</dc:creator>
  <cp:lastModifiedBy>Jason Sammon</cp:lastModifiedBy>
  <cp:revision>10</cp:revision>
  <dcterms:created xsi:type="dcterms:W3CDTF">2024-09-09T14:17:17Z</dcterms:created>
  <dcterms:modified xsi:type="dcterms:W3CDTF">2025-10-07T19:35:02Z</dcterms:modified>
</cp:coreProperties>
</file>